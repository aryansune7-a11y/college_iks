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Bugaki" panose="020B0604020202020204" charset="0"/>
      <p:regular r:id="rId14"/>
    </p:embeddedFont>
    <p:embeddedFont>
      <p:font typeface="Open Sans" panose="020B0606030504020204" pitchFamily="34" charset="0"/>
      <p:regular r:id="rId15"/>
    </p:embeddedFont>
    <p:embeddedFont>
      <p:font typeface="Open Sans Bold" panose="020B0604020202020204" charset="0"/>
      <p:regular r:id="rId16"/>
    </p:embeddedFont>
    <p:embeddedFont>
      <p:font typeface="Open Sans Italics" panose="020B0604020202020204" charset="0"/>
      <p:regular r:id="rId17"/>
    </p:embeddedFont>
    <p:embeddedFont>
      <p:font typeface="Poppins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5700079" y="1020377"/>
            <a:ext cx="1573669" cy="1557932"/>
          </a:xfrm>
          <a:custGeom>
            <a:avLst/>
            <a:gdLst/>
            <a:ahLst/>
            <a:cxnLst/>
            <a:rect l="l" t="t" r="r" b="b"/>
            <a:pathLst>
              <a:path w="1573669" h="1557932">
                <a:moveTo>
                  <a:pt x="0" y="0"/>
                </a:moveTo>
                <a:lnTo>
                  <a:pt x="1573669" y="0"/>
                </a:lnTo>
                <a:lnTo>
                  <a:pt x="1573669" y="1557932"/>
                </a:lnTo>
                <a:lnTo>
                  <a:pt x="0" y="1557932"/>
                </a:lnTo>
                <a:lnTo>
                  <a:pt x="0" y="0"/>
                </a:lnTo>
                <a:close/>
              </a:path>
            </a:pathLst>
          </a:custGeom>
          <a:blipFill>
            <a:blip r:embed="rId2"/>
            <a:stretch>
              <a:fillRect/>
            </a:stretch>
          </a:blipFill>
        </p:spPr>
      </p:sp>
      <p:sp>
        <p:nvSpPr>
          <p:cNvPr id="3" name="Freeform 3"/>
          <p:cNvSpPr/>
          <p:nvPr/>
        </p:nvSpPr>
        <p:spPr>
          <a:xfrm>
            <a:off x="-4576990" y="1135097"/>
            <a:ext cx="9338826" cy="9315479"/>
          </a:xfrm>
          <a:custGeom>
            <a:avLst/>
            <a:gdLst/>
            <a:ahLst/>
            <a:cxnLst/>
            <a:rect l="l" t="t" r="r" b="b"/>
            <a:pathLst>
              <a:path w="9338826" h="9315479">
                <a:moveTo>
                  <a:pt x="0" y="0"/>
                </a:moveTo>
                <a:lnTo>
                  <a:pt x="9338826" y="0"/>
                </a:lnTo>
                <a:lnTo>
                  <a:pt x="9338826" y="9315479"/>
                </a:lnTo>
                <a:lnTo>
                  <a:pt x="0" y="9315479"/>
                </a:lnTo>
                <a:lnTo>
                  <a:pt x="0" y="0"/>
                </a:lnTo>
                <a:close/>
              </a:path>
            </a:pathLst>
          </a:custGeom>
          <a:blipFill>
            <a:blip r:embed="rId3">
              <a:alphaModFix amt="9999"/>
            </a:blip>
            <a:stretch>
              <a:fillRect/>
            </a:stretch>
          </a:blipFill>
        </p:spPr>
      </p:sp>
      <p:sp>
        <p:nvSpPr>
          <p:cNvPr id="4" name="TextBox 4"/>
          <p:cNvSpPr txBox="1"/>
          <p:nvPr/>
        </p:nvSpPr>
        <p:spPr>
          <a:xfrm>
            <a:off x="1028700" y="3425455"/>
            <a:ext cx="14319358" cy="796909"/>
          </a:xfrm>
          <a:prstGeom prst="rect">
            <a:avLst/>
          </a:prstGeom>
        </p:spPr>
        <p:txBody>
          <a:bodyPr lIns="0" tIns="0" rIns="0" bIns="0" rtlCol="0" anchor="t">
            <a:spAutoFit/>
          </a:bodyPr>
          <a:lstStyle/>
          <a:p>
            <a:pPr marL="0" lvl="0" indent="0" algn="l">
              <a:lnSpc>
                <a:spcPts val="5348"/>
              </a:lnSpc>
            </a:pPr>
            <a:r>
              <a:rPr lang="en-US" sz="4999">
                <a:solidFill>
                  <a:srgbClr val="4A1656"/>
                </a:solidFill>
                <a:latin typeface="Bugaki"/>
                <a:ea typeface="Bugaki"/>
                <a:cs typeface="Bugaki"/>
                <a:sym typeface="Bugaki"/>
              </a:rPr>
              <a:t>Wootz Steel</a:t>
            </a:r>
          </a:p>
        </p:txBody>
      </p:sp>
      <p:sp>
        <p:nvSpPr>
          <p:cNvPr id="5" name="TextBox 5"/>
          <p:cNvSpPr txBox="1"/>
          <p:nvPr/>
        </p:nvSpPr>
        <p:spPr>
          <a:xfrm>
            <a:off x="1028700" y="4897722"/>
            <a:ext cx="5452083" cy="764755"/>
          </a:xfrm>
          <a:prstGeom prst="rect">
            <a:avLst/>
          </a:prstGeom>
        </p:spPr>
        <p:txBody>
          <a:bodyPr lIns="0" tIns="0" rIns="0" bIns="0" rtlCol="0" anchor="t">
            <a:spAutoFit/>
          </a:bodyPr>
          <a:lstStyle/>
          <a:p>
            <a:pPr marL="0" lvl="0" indent="0" algn="l">
              <a:lnSpc>
                <a:spcPts val="2835"/>
              </a:lnSpc>
            </a:pPr>
            <a:r>
              <a:rPr lang="en-US" sz="2649">
                <a:solidFill>
                  <a:srgbClr val="4A1656"/>
                </a:solidFill>
                <a:latin typeface="Bugaki"/>
                <a:ea typeface="Bugaki"/>
                <a:cs typeface="Bugaki"/>
                <a:sym typeface="Bugaki"/>
              </a:rPr>
              <a:t>Ancient Indian Metallurgy and the Science Behind It</a:t>
            </a:r>
          </a:p>
        </p:txBody>
      </p:sp>
      <p:sp>
        <p:nvSpPr>
          <p:cNvPr id="6" name="TextBox 6"/>
          <p:cNvSpPr txBox="1"/>
          <p:nvPr/>
        </p:nvSpPr>
        <p:spPr>
          <a:xfrm>
            <a:off x="9144000" y="7520086"/>
            <a:ext cx="8287030" cy="1738214"/>
          </a:xfrm>
          <a:prstGeom prst="rect">
            <a:avLst/>
          </a:prstGeom>
        </p:spPr>
        <p:txBody>
          <a:bodyPr lIns="0" tIns="0" rIns="0" bIns="0" rtlCol="0" anchor="t">
            <a:spAutoFit/>
          </a:bodyPr>
          <a:lstStyle/>
          <a:p>
            <a:pPr algn="l">
              <a:lnSpc>
                <a:spcPts val="2771"/>
              </a:lnSpc>
            </a:pPr>
            <a:r>
              <a:rPr lang="en-US" sz="2590" b="1">
                <a:solidFill>
                  <a:srgbClr val="4A1656"/>
                </a:solidFill>
                <a:latin typeface="Poppins Bold"/>
                <a:ea typeface="Poppins Bold"/>
                <a:cs typeface="Poppins Bold"/>
                <a:sym typeface="Poppins Bold"/>
              </a:rPr>
              <a:t>Presenter : Aryan Vijayrao Sune</a:t>
            </a:r>
          </a:p>
          <a:p>
            <a:pPr algn="l">
              <a:lnSpc>
                <a:spcPts val="2771"/>
              </a:lnSpc>
            </a:pPr>
            <a:r>
              <a:rPr lang="en-US" sz="2590" b="1">
                <a:solidFill>
                  <a:srgbClr val="4A1656"/>
                </a:solidFill>
                <a:latin typeface="Poppins Bold"/>
                <a:ea typeface="Poppins Bold"/>
                <a:cs typeface="Poppins Bold"/>
                <a:sym typeface="Poppins Bold"/>
              </a:rPr>
              <a:t>PRN : 255109005</a:t>
            </a:r>
          </a:p>
          <a:p>
            <a:pPr algn="l">
              <a:lnSpc>
                <a:spcPts val="2771"/>
              </a:lnSpc>
            </a:pPr>
            <a:r>
              <a:rPr lang="en-US" sz="2590" b="1">
                <a:solidFill>
                  <a:srgbClr val="4A1656"/>
                </a:solidFill>
                <a:latin typeface="Poppins Bold"/>
                <a:ea typeface="Poppins Bold"/>
                <a:cs typeface="Poppins Bold"/>
                <a:sym typeface="Poppins Bold"/>
              </a:rPr>
              <a:t>Branch : SY CSE(Un) Btech</a:t>
            </a:r>
          </a:p>
          <a:p>
            <a:pPr algn="l">
              <a:lnSpc>
                <a:spcPts val="2771"/>
              </a:lnSpc>
            </a:pPr>
            <a:r>
              <a:rPr lang="en-US" sz="2590" b="1">
                <a:solidFill>
                  <a:srgbClr val="4A1656"/>
                </a:solidFill>
                <a:latin typeface="Poppins Bold"/>
                <a:ea typeface="Poppins Bold"/>
                <a:cs typeface="Poppins Bold"/>
                <a:sym typeface="Poppins Bold"/>
              </a:rPr>
              <a:t>College : Walcahnd College of Engineering Sangli</a:t>
            </a:r>
          </a:p>
          <a:p>
            <a:pPr marL="0" lvl="0" indent="0" algn="l">
              <a:lnSpc>
                <a:spcPts val="2771"/>
              </a:lnSpc>
            </a:pPr>
            <a:endParaRPr lang="en-US" sz="2590" b="1">
              <a:solidFill>
                <a:srgbClr val="4A1656"/>
              </a:solidFill>
              <a:latin typeface="Poppins Bold"/>
              <a:ea typeface="Poppins Bold"/>
              <a:cs typeface="Poppins Bold"/>
              <a:sym typeface="Poppins Bold"/>
            </a:endParaRPr>
          </a:p>
        </p:txBody>
      </p:sp>
      <p:pic>
        <p:nvPicPr>
          <p:cNvPr id="7" name="Camera 6">
            <a:extLst>
              <a:ext uri="{FF2B5EF4-FFF2-40B4-BE49-F238E27FC236}">
                <a16:creationId xmlns:a16="http://schemas.microsoft.com/office/drawing/2014/main" id="{4992D919-A1C8-9EDE-6C1D-6A2550E0BAF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flipH="1">
            <a:off x="0" y="7822523"/>
            <a:ext cx="4267200" cy="246447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4133625" y="797643"/>
            <a:ext cx="8356685" cy="10343590"/>
          </a:xfrm>
          <a:custGeom>
            <a:avLst/>
            <a:gdLst/>
            <a:ahLst/>
            <a:cxnLst/>
            <a:rect l="l" t="t" r="r" b="b"/>
            <a:pathLst>
              <a:path w="8356685" h="10343590">
                <a:moveTo>
                  <a:pt x="0" y="0"/>
                </a:moveTo>
                <a:lnTo>
                  <a:pt x="8356686" y="0"/>
                </a:lnTo>
                <a:lnTo>
                  <a:pt x="8356686" y="10343590"/>
                </a:lnTo>
                <a:lnTo>
                  <a:pt x="0" y="10343590"/>
                </a:lnTo>
                <a:lnTo>
                  <a:pt x="0" y="0"/>
                </a:lnTo>
                <a:close/>
              </a:path>
            </a:pathLst>
          </a:custGeom>
          <a:blipFill>
            <a:blip r:embed="rId2">
              <a:alphaModFix amt="9999"/>
            </a:blip>
            <a:stretch>
              <a:fillRect/>
            </a:stretch>
          </a:blipFill>
        </p:spPr>
      </p:sp>
      <p:grpSp>
        <p:nvGrpSpPr>
          <p:cNvPr id="3" name="Group 3"/>
          <p:cNvGrpSpPr/>
          <p:nvPr/>
        </p:nvGrpSpPr>
        <p:grpSpPr>
          <a:xfrm>
            <a:off x="7966013" y="4360463"/>
            <a:ext cx="9293287" cy="3736740"/>
            <a:chOff x="0" y="0"/>
            <a:chExt cx="2447615" cy="984162"/>
          </a:xfrm>
        </p:grpSpPr>
        <p:sp>
          <p:nvSpPr>
            <p:cNvPr id="4" name="Freeform 4"/>
            <p:cNvSpPr/>
            <p:nvPr/>
          </p:nvSpPr>
          <p:spPr>
            <a:xfrm>
              <a:off x="0" y="0"/>
              <a:ext cx="2447615" cy="984162"/>
            </a:xfrm>
            <a:custGeom>
              <a:avLst/>
              <a:gdLst/>
              <a:ahLst/>
              <a:cxnLst/>
              <a:rect l="l" t="t" r="r" b="b"/>
              <a:pathLst>
                <a:path w="2447615" h="984162">
                  <a:moveTo>
                    <a:pt x="29157" y="0"/>
                  </a:moveTo>
                  <a:lnTo>
                    <a:pt x="2418457" y="0"/>
                  </a:lnTo>
                  <a:cubicBezTo>
                    <a:pt x="2426190" y="0"/>
                    <a:pt x="2433607" y="3072"/>
                    <a:pt x="2439075" y="8540"/>
                  </a:cubicBezTo>
                  <a:cubicBezTo>
                    <a:pt x="2444543" y="14008"/>
                    <a:pt x="2447615" y="21424"/>
                    <a:pt x="2447615" y="29157"/>
                  </a:cubicBezTo>
                  <a:lnTo>
                    <a:pt x="2447615" y="955005"/>
                  </a:lnTo>
                  <a:cubicBezTo>
                    <a:pt x="2447615" y="971108"/>
                    <a:pt x="2434561" y="984162"/>
                    <a:pt x="2418457" y="984162"/>
                  </a:cubicBezTo>
                  <a:lnTo>
                    <a:pt x="29157" y="984162"/>
                  </a:lnTo>
                  <a:cubicBezTo>
                    <a:pt x="21424" y="984162"/>
                    <a:pt x="14008" y="981090"/>
                    <a:pt x="8540" y="975622"/>
                  </a:cubicBezTo>
                  <a:cubicBezTo>
                    <a:pt x="3072" y="970154"/>
                    <a:pt x="0" y="962738"/>
                    <a:pt x="0" y="955005"/>
                  </a:cubicBezTo>
                  <a:lnTo>
                    <a:pt x="0" y="29157"/>
                  </a:lnTo>
                  <a:cubicBezTo>
                    <a:pt x="0" y="21424"/>
                    <a:pt x="3072" y="14008"/>
                    <a:pt x="8540" y="8540"/>
                  </a:cubicBezTo>
                  <a:cubicBezTo>
                    <a:pt x="14008" y="3072"/>
                    <a:pt x="21424" y="0"/>
                    <a:pt x="29157" y="0"/>
                  </a:cubicBezTo>
                  <a:close/>
                </a:path>
              </a:pathLst>
            </a:custGeom>
            <a:solidFill>
              <a:srgbClr val="00ACC1">
                <a:alpha val="80000"/>
              </a:srgbClr>
            </a:solidFill>
          </p:spPr>
        </p:sp>
        <p:sp>
          <p:nvSpPr>
            <p:cNvPr id="5" name="TextBox 5"/>
            <p:cNvSpPr txBox="1"/>
            <p:nvPr/>
          </p:nvSpPr>
          <p:spPr>
            <a:xfrm>
              <a:off x="0" y="-38100"/>
              <a:ext cx="2447615" cy="1022262"/>
            </a:xfrm>
            <a:prstGeom prst="rect">
              <a:avLst/>
            </a:prstGeom>
          </p:spPr>
          <p:txBody>
            <a:bodyPr lIns="50800" tIns="50800" rIns="50800" bIns="50800" rtlCol="0" anchor="ctr"/>
            <a:lstStyle/>
            <a:p>
              <a:pPr marL="0" lvl="0" indent="0" algn="ctr">
                <a:lnSpc>
                  <a:spcPts val="3360"/>
                </a:lnSpc>
              </a:pPr>
              <a:endParaRPr/>
            </a:p>
          </p:txBody>
        </p:sp>
      </p:grpSp>
      <p:grpSp>
        <p:nvGrpSpPr>
          <p:cNvPr id="6" name="Group 6"/>
          <p:cNvGrpSpPr/>
          <p:nvPr/>
        </p:nvGrpSpPr>
        <p:grpSpPr>
          <a:xfrm>
            <a:off x="1028700" y="3850005"/>
            <a:ext cx="7603480" cy="5408295"/>
            <a:chOff x="0" y="0"/>
            <a:chExt cx="1177978" cy="837886"/>
          </a:xfrm>
        </p:grpSpPr>
        <p:sp>
          <p:nvSpPr>
            <p:cNvPr id="7" name="Freeform 7"/>
            <p:cNvSpPr/>
            <p:nvPr/>
          </p:nvSpPr>
          <p:spPr>
            <a:xfrm>
              <a:off x="0" y="0"/>
              <a:ext cx="1177978" cy="837886"/>
            </a:xfrm>
            <a:custGeom>
              <a:avLst/>
              <a:gdLst/>
              <a:ahLst/>
              <a:cxnLst/>
              <a:rect l="l" t="t" r="r" b="b"/>
              <a:pathLst>
                <a:path w="1177978" h="837886">
                  <a:moveTo>
                    <a:pt x="35637" y="0"/>
                  </a:moveTo>
                  <a:lnTo>
                    <a:pt x="1142341" y="0"/>
                  </a:lnTo>
                  <a:cubicBezTo>
                    <a:pt x="1151792" y="0"/>
                    <a:pt x="1160857" y="3755"/>
                    <a:pt x="1167540" y="10438"/>
                  </a:cubicBezTo>
                  <a:cubicBezTo>
                    <a:pt x="1174223" y="17121"/>
                    <a:pt x="1177978" y="26186"/>
                    <a:pt x="1177978" y="35637"/>
                  </a:cubicBezTo>
                  <a:lnTo>
                    <a:pt x="1177978" y="802249"/>
                  </a:lnTo>
                  <a:cubicBezTo>
                    <a:pt x="1177978" y="811701"/>
                    <a:pt x="1174223" y="820765"/>
                    <a:pt x="1167540" y="827448"/>
                  </a:cubicBezTo>
                  <a:cubicBezTo>
                    <a:pt x="1160857" y="834132"/>
                    <a:pt x="1151792" y="837886"/>
                    <a:pt x="1142341" y="837886"/>
                  </a:cubicBezTo>
                  <a:lnTo>
                    <a:pt x="35637" y="837886"/>
                  </a:lnTo>
                  <a:cubicBezTo>
                    <a:pt x="26186" y="837886"/>
                    <a:pt x="17121" y="834132"/>
                    <a:pt x="10438" y="827448"/>
                  </a:cubicBezTo>
                  <a:cubicBezTo>
                    <a:pt x="3755" y="820765"/>
                    <a:pt x="0" y="811701"/>
                    <a:pt x="0" y="802249"/>
                  </a:cubicBezTo>
                  <a:lnTo>
                    <a:pt x="0" y="35637"/>
                  </a:lnTo>
                  <a:cubicBezTo>
                    <a:pt x="0" y="26186"/>
                    <a:pt x="3755" y="17121"/>
                    <a:pt x="10438" y="10438"/>
                  </a:cubicBezTo>
                  <a:cubicBezTo>
                    <a:pt x="17121" y="3755"/>
                    <a:pt x="26186" y="0"/>
                    <a:pt x="35637" y="0"/>
                  </a:cubicBezTo>
                  <a:close/>
                </a:path>
              </a:pathLst>
            </a:custGeom>
            <a:blipFill>
              <a:blip r:embed="rId3"/>
              <a:stretch>
                <a:fillRect l="-90" r="-90"/>
              </a:stretch>
            </a:blipFill>
          </p:spPr>
        </p:sp>
      </p:grpSp>
      <p:sp>
        <p:nvSpPr>
          <p:cNvPr id="9" name="TextBox 9"/>
          <p:cNvSpPr txBox="1"/>
          <p:nvPr/>
        </p:nvSpPr>
        <p:spPr>
          <a:xfrm>
            <a:off x="1028700" y="2288620"/>
            <a:ext cx="13874626" cy="804777"/>
          </a:xfrm>
          <a:prstGeom prst="rect">
            <a:avLst/>
          </a:prstGeom>
        </p:spPr>
        <p:txBody>
          <a:bodyPr lIns="0" tIns="0" rIns="0" bIns="0" rtlCol="0" anchor="t">
            <a:spAutoFit/>
          </a:bodyPr>
          <a:lstStyle/>
          <a:p>
            <a:pPr marL="0" lvl="0" indent="0" algn="l">
              <a:lnSpc>
                <a:spcPts val="5429"/>
              </a:lnSpc>
            </a:pPr>
            <a:r>
              <a:rPr lang="en-US" sz="5073">
                <a:solidFill>
                  <a:srgbClr val="4A1656"/>
                </a:solidFill>
                <a:latin typeface="Bugaki"/>
                <a:ea typeface="Bugaki"/>
                <a:cs typeface="Bugaki"/>
                <a:sym typeface="Bugaki"/>
              </a:rPr>
              <a:t>What Was Wootz Steel?</a:t>
            </a:r>
          </a:p>
        </p:txBody>
      </p:sp>
      <p:sp>
        <p:nvSpPr>
          <p:cNvPr id="10" name="TextBox 10"/>
          <p:cNvSpPr txBox="1"/>
          <p:nvPr/>
        </p:nvSpPr>
        <p:spPr>
          <a:xfrm>
            <a:off x="8932856" y="4634865"/>
            <a:ext cx="8025767" cy="2436375"/>
          </a:xfrm>
          <a:prstGeom prst="rect">
            <a:avLst/>
          </a:prstGeom>
        </p:spPr>
        <p:txBody>
          <a:bodyPr lIns="0" tIns="0" rIns="0" bIns="0" rtlCol="0" anchor="t">
            <a:spAutoFit/>
          </a:bodyPr>
          <a:lstStyle/>
          <a:p>
            <a:pPr marL="0" lvl="0" indent="0" algn="just">
              <a:lnSpc>
                <a:spcPts val="3918"/>
              </a:lnSpc>
            </a:pPr>
            <a:r>
              <a:rPr lang="en-US" sz="2251">
                <a:solidFill>
                  <a:srgbClr val="4A1656"/>
                </a:solidFill>
                <a:latin typeface="Open Sans"/>
                <a:ea typeface="Open Sans"/>
                <a:cs typeface="Open Sans"/>
                <a:sym typeface="Open Sans"/>
              </a:rPr>
              <a:t>High-carbon crucible steel originating in South India</a:t>
            </a:r>
          </a:p>
          <a:p>
            <a:pPr marL="0" lvl="0" indent="0" algn="just">
              <a:lnSpc>
                <a:spcPts val="3918"/>
              </a:lnSpc>
            </a:pPr>
            <a:r>
              <a:rPr lang="en-US" sz="2251">
                <a:solidFill>
                  <a:srgbClr val="4A1656"/>
                </a:solidFill>
                <a:latin typeface="Open Sans"/>
                <a:ea typeface="Open Sans"/>
                <a:cs typeface="Open Sans"/>
                <a:sym typeface="Open Sans"/>
              </a:rPr>
              <a:t>Known for exceptional strength and distinctive surface patterns</a:t>
            </a:r>
          </a:p>
          <a:p>
            <a:pPr marL="0" lvl="0" indent="0" algn="just">
              <a:lnSpc>
                <a:spcPts val="3918"/>
              </a:lnSpc>
            </a:pPr>
            <a:r>
              <a:rPr lang="en-US" sz="2251">
                <a:solidFill>
                  <a:srgbClr val="4A1656"/>
                </a:solidFill>
                <a:latin typeface="Open Sans"/>
                <a:ea typeface="Open Sans"/>
                <a:cs typeface="Open Sans"/>
                <a:sym typeface="Open Sans"/>
              </a:rPr>
              <a:t>Produced using sealed clay crucibles with controlled heating</a:t>
            </a:r>
          </a:p>
          <a:p>
            <a:pPr marL="0" lvl="0" indent="0" algn="just">
              <a:lnSpc>
                <a:spcPts val="3918"/>
              </a:lnSpc>
            </a:pPr>
            <a:r>
              <a:rPr lang="en-US" sz="2251">
                <a:solidFill>
                  <a:srgbClr val="4A1656"/>
                </a:solidFill>
                <a:latin typeface="Open Sans"/>
                <a:ea typeface="Open Sans"/>
                <a:cs typeface="Open Sans"/>
                <a:sym typeface="Open Sans"/>
              </a:rPr>
              <a:t>Traded widely across the ancient world beyond India</a:t>
            </a:r>
          </a:p>
        </p:txBody>
      </p:sp>
      <p:sp>
        <p:nvSpPr>
          <p:cNvPr id="11" name="Freeform 11"/>
          <p:cNvSpPr/>
          <p:nvPr/>
        </p:nvSpPr>
        <p:spPr>
          <a:xfrm>
            <a:off x="667061" y="1060332"/>
            <a:ext cx="1490155" cy="774683"/>
          </a:xfrm>
          <a:custGeom>
            <a:avLst/>
            <a:gdLst/>
            <a:ahLst/>
            <a:cxnLst/>
            <a:rect l="l" t="t" r="r" b="b"/>
            <a:pathLst>
              <a:path w="1490155" h="774683">
                <a:moveTo>
                  <a:pt x="0" y="0"/>
                </a:moveTo>
                <a:lnTo>
                  <a:pt x="1490156" y="0"/>
                </a:lnTo>
                <a:lnTo>
                  <a:pt x="1490156" y="774683"/>
                </a:lnTo>
                <a:lnTo>
                  <a:pt x="0" y="774683"/>
                </a:lnTo>
                <a:lnTo>
                  <a:pt x="0" y="0"/>
                </a:lnTo>
                <a:close/>
              </a:path>
            </a:pathLst>
          </a:custGeom>
          <a:blipFill>
            <a:blip r:embed="rId4"/>
            <a:stretch>
              <a:fillRect/>
            </a:stretch>
          </a:blipFill>
        </p:spPr>
      </p:sp>
      <p:sp>
        <p:nvSpPr>
          <p:cNvPr id="12" name="TextBox 12"/>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3" name="Camera 12">
            <a:extLst>
              <a:ext uri="{FF2B5EF4-FFF2-40B4-BE49-F238E27FC236}">
                <a16:creationId xmlns:a16="http://schemas.microsoft.com/office/drawing/2014/main" id="{BFE27609-FBA8-7265-F3EF-246FF553155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5087600" y="-10391"/>
            <a:ext cx="3384674" cy="216255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850005"/>
            <a:ext cx="7603480" cy="5408295"/>
            <a:chOff x="0" y="0"/>
            <a:chExt cx="1177978" cy="837886"/>
          </a:xfrm>
        </p:grpSpPr>
        <p:sp>
          <p:nvSpPr>
            <p:cNvPr id="3" name="Freeform 3"/>
            <p:cNvSpPr/>
            <p:nvPr/>
          </p:nvSpPr>
          <p:spPr>
            <a:xfrm>
              <a:off x="0" y="0"/>
              <a:ext cx="1177978" cy="837886"/>
            </a:xfrm>
            <a:custGeom>
              <a:avLst/>
              <a:gdLst/>
              <a:ahLst/>
              <a:cxnLst/>
              <a:rect l="l" t="t" r="r" b="b"/>
              <a:pathLst>
                <a:path w="1177978" h="837886">
                  <a:moveTo>
                    <a:pt x="35637" y="0"/>
                  </a:moveTo>
                  <a:lnTo>
                    <a:pt x="1142341" y="0"/>
                  </a:lnTo>
                  <a:cubicBezTo>
                    <a:pt x="1151792" y="0"/>
                    <a:pt x="1160857" y="3755"/>
                    <a:pt x="1167540" y="10438"/>
                  </a:cubicBezTo>
                  <a:cubicBezTo>
                    <a:pt x="1174223" y="17121"/>
                    <a:pt x="1177978" y="26186"/>
                    <a:pt x="1177978" y="35637"/>
                  </a:cubicBezTo>
                  <a:lnTo>
                    <a:pt x="1177978" y="802249"/>
                  </a:lnTo>
                  <a:cubicBezTo>
                    <a:pt x="1177978" y="811701"/>
                    <a:pt x="1174223" y="820765"/>
                    <a:pt x="1167540" y="827448"/>
                  </a:cubicBezTo>
                  <a:cubicBezTo>
                    <a:pt x="1160857" y="834132"/>
                    <a:pt x="1151792" y="837886"/>
                    <a:pt x="1142341" y="837886"/>
                  </a:cubicBezTo>
                  <a:lnTo>
                    <a:pt x="35637" y="837886"/>
                  </a:lnTo>
                  <a:cubicBezTo>
                    <a:pt x="26186" y="837886"/>
                    <a:pt x="17121" y="834132"/>
                    <a:pt x="10438" y="827448"/>
                  </a:cubicBezTo>
                  <a:cubicBezTo>
                    <a:pt x="3755" y="820765"/>
                    <a:pt x="0" y="811701"/>
                    <a:pt x="0" y="802249"/>
                  </a:cubicBezTo>
                  <a:lnTo>
                    <a:pt x="0" y="35637"/>
                  </a:lnTo>
                  <a:cubicBezTo>
                    <a:pt x="0" y="26186"/>
                    <a:pt x="3755" y="17121"/>
                    <a:pt x="10438" y="10438"/>
                  </a:cubicBezTo>
                  <a:cubicBezTo>
                    <a:pt x="17121" y="3755"/>
                    <a:pt x="26186" y="0"/>
                    <a:pt x="35637" y="0"/>
                  </a:cubicBezTo>
                  <a:close/>
                </a:path>
              </a:pathLst>
            </a:custGeom>
            <a:blipFill>
              <a:blip r:embed="rId2"/>
              <a:stretch>
                <a:fillRect l="-90" r="-90"/>
              </a:stretch>
            </a:blipFill>
          </p:spPr>
        </p:sp>
      </p:grpSp>
      <p:sp>
        <p:nvSpPr>
          <p:cNvPr id="4" name="Freeform 4"/>
          <p:cNvSpPr/>
          <p:nvPr/>
        </p:nvSpPr>
        <p:spPr>
          <a:xfrm>
            <a:off x="13783525" y="-476794"/>
            <a:ext cx="8615304" cy="11302256"/>
          </a:xfrm>
          <a:custGeom>
            <a:avLst/>
            <a:gdLst/>
            <a:ahLst/>
            <a:cxnLst/>
            <a:rect l="l" t="t" r="r" b="b"/>
            <a:pathLst>
              <a:path w="8615304" h="11302256">
                <a:moveTo>
                  <a:pt x="0" y="0"/>
                </a:moveTo>
                <a:lnTo>
                  <a:pt x="8615304" y="0"/>
                </a:lnTo>
                <a:lnTo>
                  <a:pt x="8615304" y="11302256"/>
                </a:lnTo>
                <a:lnTo>
                  <a:pt x="0" y="11302256"/>
                </a:lnTo>
                <a:lnTo>
                  <a:pt x="0" y="0"/>
                </a:lnTo>
                <a:close/>
              </a:path>
            </a:pathLst>
          </a:custGeom>
          <a:blipFill>
            <a:blip r:embed="rId3">
              <a:alphaModFix amt="9999"/>
            </a:blip>
            <a:stretch>
              <a:fillRect/>
            </a:stretch>
          </a:blipFill>
        </p:spPr>
      </p:sp>
      <p:sp>
        <p:nvSpPr>
          <p:cNvPr id="5" name="TextBox 5"/>
          <p:cNvSpPr txBox="1"/>
          <p:nvPr/>
        </p:nvSpPr>
        <p:spPr>
          <a:xfrm>
            <a:off x="8943975" y="6458862"/>
            <a:ext cx="7803505" cy="1594056"/>
          </a:xfrm>
          <a:prstGeom prst="rect">
            <a:avLst/>
          </a:prstGeom>
        </p:spPr>
        <p:txBody>
          <a:bodyPr lIns="0" tIns="0" rIns="0" bIns="0" rtlCol="0" anchor="t">
            <a:spAutoFit/>
          </a:bodyPr>
          <a:lstStyle/>
          <a:p>
            <a:pPr marL="0" lvl="0" indent="0" algn="just">
              <a:lnSpc>
                <a:spcPts val="3174"/>
              </a:lnSpc>
            </a:pPr>
            <a:r>
              <a:rPr lang="en-US" sz="2479" b="1">
                <a:solidFill>
                  <a:srgbClr val="4A1656"/>
                </a:solidFill>
                <a:latin typeface="Open Sans Bold"/>
                <a:ea typeface="Open Sans Bold"/>
                <a:cs typeface="Open Sans Bold"/>
                <a:sym typeface="Open Sans Bold"/>
              </a:rPr>
              <a:t>Widely exported across the Middle East, Europe, and Asia; praised in historical accounts for superior quality; established India's international reputation in metallurgy.</a:t>
            </a:r>
          </a:p>
        </p:txBody>
      </p:sp>
      <p:sp>
        <p:nvSpPr>
          <p:cNvPr id="6" name="TextBox 6"/>
          <p:cNvSpPr txBox="1"/>
          <p:nvPr/>
        </p:nvSpPr>
        <p:spPr>
          <a:xfrm>
            <a:off x="8943975" y="4036613"/>
            <a:ext cx="7803505" cy="1594056"/>
          </a:xfrm>
          <a:prstGeom prst="rect">
            <a:avLst/>
          </a:prstGeom>
        </p:spPr>
        <p:txBody>
          <a:bodyPr lIns="0" tIns="0" rIns="0" bIns="0" rtlCol="0" anchor="t">
            <a:spAutoFit/>
          </a:bodyPr>
          <a:lstStyle/>
          <a:p>
            <a:pPr marL="0" lvl="0" indent="0" algn="just">
              <a:lnSpc>
                <a:spcPts val="3174"/>
              </a:lnSpc>
            </a:pPr>
            <a:r>
              <a:rPr lang="en-US" sz="2479" b="1">
                <a:solidFill>
                  <a:srgbClr val="4A1656"/>
                </a:solidFill>
                <a:latin typeface="Open Sans Bold"/>
                <a:ea typeface="Open Sans Bold"/>
                <a:cs typeface="Open Sans Bold"/>
                <a:sym typeface="Open Sans Bold"/>
              </a:rPr>
              <a:t>Ancient origins dating to early historic periods; major production regions in South India including Tamil Nadu and Andhra Pradesh; evidence from archaeological finds and historical texts.</a:t>
            </a:r>
          </a:p>
        </p:txBody>
      </p:sp>
      <p:sp>
        <p:nvSpPr>
          <p:cNvPr id="8" name="TextBox 8"/>
          <p:cNvSpPr txBox="1"/>
          <p:nvPr/>
        </p:nvSpPr>
        <p:spPr>
          <a:xfrm>
            <a:off x="1028700" y="2269570"/>
            <a:ext cx="13874626" cy="1252601"/>
          </a:xfrm>
          <a:prstGeom prst="rect">
            <a:avLst/>
          </a:prstGeom>
        </p:spPr>
        <p:txBody>
          <a:bodyPr lIns="0" tIns="0" rIns="0" bIns="0" rtlCol="0" anchor="t">
            <a:spAutoFit/>
          </a:bodyPr>
          <a:lstStyle/>
          <a:p>
            <a:pPr marL="0" lvl="0" indent="0" algn="l">
              <a:lnSpc>
                <a:spcPts val="8432"/>
              </a:lnSpc>
            </a:pPr>
            <a:r>
              <a:rPr lang="en-US" sz="7881">
                <a:solidFill>
                  <a:srgbClr val="4A1656"/>
                </a:solidFill>
                <a:latin typeface="Bugaki"/>
                <a:ea typeface="Bugaki"/>
                <a:cs typeface="Bugaki"/>
                <a:sym typeface="Bugaki"/>
              </a:rPr>
              <a:t>Historical Background</a:t>
            </a:r>
          </a:p>
        </p:txBody>
      </p:sp>
      <p:sp>
        <p:nvSpPr>
          <p:cNvPr id="9" name="Freeform 9"/>
          <p:cNvSpPr/>
          <p:nvPr/>
        </p:nvSpPr>
        <p:spPr>
          <a:xfrm>
            <a:off x="1038416" y="972378"/>
            <a:ext cx="805103" cy="868545"/>
          </a:xfrm>
          <a:custGeom>
            <a:avLst/>
            <a:gdLst/>
            <a:ahLst/>
            <a:cxnLst/>
            <a:rect l="l" t="t" r="r" b="b"/>
            <a:pathLst>
              <a:path w="805103" h="868545">
                <a:moveTo>
                  <a:pt x="0" y="0"/>
                </a:moveTo>
                <a:lnTo>
                  <a:pt x="805103" y="0"/>
                </a:lnTo>
                <a:lnTo>
                  <a:pt x="805103" y="868544"/>
                </a:lnTo>
                <a:lnTo>
                  <a:pt x="0" y="868544"/>
                </a:lnTo>
                <a:lnTo>
                  <a:pt x="0" y="0"/>
                </a:lnTo>
                <a:close/>
              </a:path>
            </a:pathLst>
          </a:custGeom>
          <a:blipFill>
            <a:blip r:embed="rId4"/>
            <a:stretch>
              <a:fillRect/>
            </a:stretch>
          </a:blipFill>
        </p:spPr>
      </p:sp>
      <p:sp>
        <p:nvSpPr>
          <p:cNvPr id="10" name="TextBox 10"/>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1" name="Camera 10">
            <a:extLst>
              <a:ext uri="{FF2B5EF4-FFF2-40B4-BE49-F238E27FC236}">
                <a16:creationId xmlns:a16="http://schemas.microsoft.com/office/drawing/2014/main" id="{796B4711-8DA2-9D80-7A26-AE5D986EB36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4882544" y="43078"/>
            <a:ext cx="3352800" cy="1768966"/>
          </a:xfrm>
          <a:prstGeom prst="rect">
            <a:avLst/>
          </a:prstGeom>
          <a:ln>
            <a:no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4114454" y="-180026"/>
            <a:ext cx="8362377" cy="11487358"/>
          </a:xfrm>
          <a:custGeom>
            <a:avLst/>
            <a:gdLst/>
            <a:ahLst/>
            <a:cxnLst/>
            <a:rect l="l" t="t" r="r" b="b"/>
            <a:pathLst>
              <a:path w="8362377" h="11487358">
                <a:moveTo>
                  <a:pt x="0" y="0"/>
                </a:moveTo>
                <a:lnTo>
                  <a:pt x="8362377" y="0"/>
                </a:lnTo>
                <a:lnTo>
                  <a:pt x="8362377" y="11487357"/>
                </a:lnTo>
                <a:lnTo>
                  <a:pt x="0" y="11487357"/>
                </a:lnTo>
                <a:lnTo>
                  <a:pt x="0" y="0"/>
                </a:lnTo>
                <a:close/>
              </a:path>
            </a:pathLst>
          </a:custGeom>
          <a:blipFill>
            <a:blip r:embed="rId2">
              <a:alphaModFix amt="9999"/>
            </a:blip>
            <a:stretch>
              <a:fillRect/>
            </a:stretch>
          </a:blipFill>
        </p:spPr>
      </p:sp>
      <p:grpSp>
        <p:nvGrpSpPr>
          <p:cNvPr id="3" name="Group 3"/>
          <p:cNvGrpSpPr/>
          <p:nvPr/>
        </p:nvGrpSpPr>
        <p:grpSpPr>
          <a:xfrm>
            <a:off x="7966013" y="4360463"/>
            <a:ext cx="9293287" cy="3736740"/>
            <a:chOff x="0" y="0"/>
            <a:chExt cx="2447615" cy="984162"/>
          </a:xfrm>
        </p:grpSpPr>
        <p:sp>
          <p:nvSpPr>
            <p:cNvPr id="4" name="Freeform 4"/>
            <p:cNvSpPr/>
            <p:nvPr/>
          </p:nvSpPr>
          <p:spPr>
            <a:xfrm>
              <a:off x="0" y="0"/>
              <a:ext cx="2447615" cy="984162"/>
            </a:xfrm>
            <a:custGeom>
              <a:avLst/>
              <a:gdLst/>
              <a:ahLst/>
              <a:cxnLst/>
              <a:rect l="l" t="t" r="r" b="b"/>
              <a:pathLst>
                <a:path w="2447615" h="984162">
                  <a:moveTo>
                    <a:pt x="29157" y="0"/>
                  </a:moveTo>
                  <a:lnTo>
                    <a:pt x="2418457" y="0"/>
                  </a:lnTo>
                  <a:cubicBezTo>
                    <a:pt x="2426190" y="0"/>
                    <a:pt x="2433607" y="3072"/>
                    <a:pt x="2439075" y="8540"/>
                  </a:cubicBezTo>
                  <a:cubicBezTo>
                    <a:pt x="2444543" y="14008"/>
                    <a:pt x="2447615" y="21424"/>
                    <a:pt x="2447615" y="29157"/>
                  </a:cubicBezTo>
                  <a:lnTo>
                    <a:pt x="2447615" y="955005"/>
                  </a:lnTo>
                  <a:cubicBezTo>
                    <a:pt x="2447615" y="971108"/>
                    <a:pt x="2434561" y="984162"/>
                    <a:pt x="2418457" y="984162"/>
                  </a:cubicBezTo>
                  <a:lnTo>
                    <a:pt x="29157" y="984162"/>
                  </a:lnTo>
                  <a:cubicBezTo>
                    <a:pt x="21424" y="984162"/>
                    <a:pt x="14008" y="981090"/>
                    <a:pt x="8540" y="975622"/>
                  </a:cubicBezTo>
                  <a:cubicBezTo>
                    <a:pt x="3072" y="970154"/>
                    <a:pt x="0" y="962738"/>
                    <a:pt x="0" y="955005"/>
                  </a:cubicBezTo>
                  <a:lnTo>
                    <a:pt x="0" y="29157"/>
                  </a:lnTo>
                  <a:cubicBezTo>
                    <a:pt x="0" y="21424"/>
                    <a:pt x="3072" y="14008"/>
                    <a:pt x="8540" y="8540"/>
                  </a:cubicBezTo>
                  <a:cubicBezTo>
                    <a:pt x="14008" y="3072"/>
                    <a:pt x="21424" y="0"/>
                    <a:pt x="29157" y="0"/>
                  </a:cubicBezTo>
                  <a:close/>
                </a:path>
              </a:pathLst>
            </a:custGeom>
            <a:solidFill>
              <a:srgbClr val="00ACC1">
                <a:alpha val="80000"/>
              </a:srgbClr>
            </a:solidFill>
          </p:spPr>
        </p:sp>
        <p:sp>
          <p:nvSpPr>
            <p:cNvPr id="5" name="TextBox 5"/>
            <p:cNvSpPr txBox="1"/>
            <p:nvPr/>
          </p:nvSpPr>
          <p:spPr>
            <a:xfrm>
              <a:off x="0" y="-38100"/>
              <a:ext cx="2447615" cy="1022262"/>
            </a:xfrm>
            <a:prstGeom prst="rect">
              <a:avLst/>
            </a:prstGeom>
          </p:spPr>
          <p:txBody>
            <a:bodyPr lIns="50800" tIns="50800" rIns="50800" bIns="50800" rtlCol="0" anchor="ctr"/>
            <a:lstStyle/>
            <a:p>
              <a:pPr marL="0" lvl="0" indent="0" algn="ctr">
                <a:lnSpc>
                  <a:spcPts val="3360"/>
                </a:lnSpc>
              </a:pPr>
              <a:endParaRPr/>
            </a:p>
          </p:txBody>
        </p:sp>
      </p:grpSp>
      <p:grpSp>
        <p:nvGrpSpPr>
          <p:cNvPr id="6" name="Group 6"/>
          <p:cNvGrpSpPr/>
          <p:nvPr/>
        </p:nvGrpSpPr>
        <p:grpSpPr>
          <a:xfrm>
            <a:off x="1028700" y="3850005"/>
            <a:ext cx="7603480" cy="5408295"/>
            <a:chOff x="0" y="0"/>
            <a:chExt cx="1177978" cy="837886"/>
          </a:xfrm>
        </p:grpSpPr>
        <p:sp>
          <p:nvSpPr>
            <p:cNvPr id="7" name="Freeform 7"/>
            <p:cNvSpPr/>
            <p:nvPr/>
          </p:nvSpPr>
          <p:spPr>
            <a:xfrm>
              <a:off x="0" y="0"/>
              <a:ext cx="1177978" cy="837886"/>
            </a:xfrm>
            <a:custGeom>
              <a:avLst/>
              <a:gdLst/>
              <a:ahLst/>
              <a:cxnLst/>
              <a:rect l="l" t="t" r="r" b="b"/>
              <a:pathLst>
                <a:path w="1177978" h="837886">
                  <a:moveTo>
                    <a:pt x="35637" y="0"/>
                  </a:moveTo>
                  <a:lnTo>
                    <a:pt x="1142341" y="0"/>
                  </a:lnTo>
                  <a:cubicBezTo>
                    <a:pt x="1151792" y="0"/>
                    <a:pt x="1160857" y="3755"/>
                    <a:pt x="1167540" y="10438"/>
                  </a:cubicBezTo>
                  <a:cubicBezTo>
                    <a:pt x="1174223" y="17121"/>
                    <a:pt x="1177978" y="26186"/>
                    <a:pt x="1177978" y="35637"/>
                  </a:cubicBezTo>
                  <a:lnTo>
                    <a:pt x="1177978" y="802249"/>
                  </a:lnTo>
                  <a:cubicBezTo>
                    <a:pt x="1177978" y="811701"/>
                    <a:pt x="1174223" y="820765"/>
                    <a:pt x="1167540" y="827448"/>
                  </a:cubicBezTo>
                  <a:cubicBezTo>
                    <a:pt x="1160857" y="834132"/>
                    <a:pt x="1151792" y="837886"/>
                    <a:pt x="1142341" y="837886"/>
                  </a:cubicBezTo>
                  <a:lnTo>
                    <a:pt x="35637" y="837886"/>
                  </a:lnTo>
                  <a:cubicBezTo>
                    <a:pt x="26186" y="837886"/>
                    <a:pt x="17121" y="834132"/>
                    <a:pt x="10438" y="827448"/>
                  </a:cubicBezTo>
                  <a:cubicBezTo>
                    <a:pt x="3755" y="820765"/>
                    <a:pt x="0" y="811701"/>
                    <a:pt x="0" y="802249"/>
                  </a:cubicBezTo>
                  <a:lnTo>
                    <a:pt x="0" y="35637"/>
                  </a:lnTo>
                  <a:cubicBezTo>
                    <a:pt x="0" y="26186"/>
                    <a:pt x="3755" y="17121"/>
                    <a:pt x="10438" y="10438"/>
                  </a:cubicBezTo>
                  <a:cubicBezTo>
                    <a:pt x="17121" y="3755"/>
                    <a:pt x="26186" y="0"/>
                    <a:pt x="35637" y="0"/>
                  </a:cubicBezTo>
                  <a:close/>
                </a:path>
              </a:pathLst>
            </a:custGeom>
            <a:blipFill>
              <a:blip r:embed="rId3"/>
              <a:stretch>
                <a:fillRect l="-90" r="-90"/>
              </a:stretch>
            </a:blipFill>
          </p:spPr>
        </p:sp>
      </p:grpSp>
      <p:sp>
        <p:nvSpPr>
          <p:cNvPr id="9" name="TextBox 9"/>
          <p:cNvSpPr txBox="1"/>
          <p:nvPr/>
        </p:nvSpPr>
        <p:spPr>
          <a:xfrm>
            <a:off x="11491639" y="8871586"/>
            <a:ext cx="5767661" cy="280801"/>
          </a:xfrm>
          <a:prstGeom prst="rect">
            <a:avLst/>
          </a:prstGeom>
        </p:spPr>
        <p:txBody>
          <a:bodyPr lIns="0" tIns="0" rIns="0" bIns="0" rtlCol="0" anchor="t">
            <a:spAutoFit/>
          </a:bodyPr>
          <a:lstStyle/>
          <a:p>
            <a:pPr marL="0" lvl="0" indent="0" algn="r">
              <a:lnSpc>
                <a:spcPts val="2372"/>
              </a:lnSpc>
              <a:spcBef>
                <a:spcPct val="0"/>
              </a:spcBef>
            </a:pPr>
            <a:r>
              <a:rPr lang="en-US" sz="1694">
                <a:solidFill>
                  <a:srgbClr val="4A1656"/>
                </a:solidFill>
                <a:latin typeface="Open Sans"/>
                <a:ea typeface="Open Sans"/>
                <a:cs typeface="Open Sans"/>
                <a:sym typeface="Open Sans"/>
              </a:rPr>
              <a:t>Wootz Steel: Ancient Indian Metallurgy</a:t>
            </a:r>
          </a:p>
        </p:txBody>
      </p:sp>
      <p:sp>
        <p:nvSpPr>
          <p:cNvPr id="10" name="TextBox 10"/>
          <p:cNvSpPr txBox="1"/>
          <p:nvPr/>
        </p:nvSpPr>
        <p:spPr>
          <a:xfrm>
            <a:off x="1028700" y="2288620"/>
            <a:ext cx="13874626" cy="881247"/>
          </a:xfrm>
          <a:prstGeom prst="rect">
            <a:avLst/>
          </a:prstGeom>
        </p:spPr>
        <p:txBody>
          <a:bodyPr lIns="0" tIns="0" rIns="0" bIns="0" rtlCol="0" anchor="t">
            <a:spAutoFit/>
          </a:bodyPr>
          <a:lstStyle/>
          <a:p>
            <a:pPr marL="0" lvl="0" indent="0" algn="l">
              <a:lnSpc>
                <a:spcPts val="5959"/>
              </a:lnSpc>
            </a:pPr>
            <a:r>
              <a:rPr lang="en-US" sz="5569">
                <a:solidFill>
                  <a:srgbClr val="4A1656"/>
                </a:solidFill>
                <a:latin typeface="Bugaki"/>
                <a:ea typeface="Bugaki"/>
                <a:cs typeface="Bugaki"/>
                <a:sym typeface="Bugaki"/>
              </a:rPr>
              <a:t>How Was Wootz Made?</a:t>
            </a:r>
          </a:p>
        </p:txBody>
      </p:sp>
      <p:sp>
        <p:nvSpPr>
          <p:cNvPr id="11" name="TextBox 11"/>
          <p:cNvSpPr txBox="1"/>
          <p:nvPr/>
        </p:nvSpPr>
        <p:spPr>
          <a:xfrm>
            <a:off x="8932856" y="4625340"/>
            <a:ext cx="8025767" cy="2668948"/>
          </a:xfrm>
          <a:prstGeom prst="rect">
            <a:avLst/>
          </a:prstGeom>
        </p:spPr>
        <p:txBody>
          <a:bodyPr lIns="0" tIns="0" rIns="0" bIns="0" rtlCol="0" anchor="t">
            <a:spAutoFit/>
          </a:bodyPr>
          <a:lstStyle/>
          <a:p>
            <a:pPr marL="533617" lvl="1" indent="-266809" algn="just">
              <a:lnSpc>
                <a:spcPts val="4300"/>
              </a:lnSpc>
              <a:buAutoNum type="arabicPeriod"/>
            </a:pPr>
            <a:r>
              <a:rPr lang="en-US" sz="2471">
                <a:solidFill>
                  <a:srgbClr val="4A1656"/>
                </a:solidFill>
                <a:latin typeface="Open Sans"/>
                <a:ea typeface="Open Sans"/>
                <a:cs typeface="Open Sans"/>
                <a:sym typeface="Open Sans"/>
              </a:rPr>
              <a:t>Iron/steel feedstock + carbon source (wood, leaves)</a:t>
            </a:r>
          </a:p>
          <a:p>
            <a:pPr marL="533617" lvl="1" indent="-266809" algn="just">
              <a:lnSpc>
                <a:spcPts val="4300"/>
              </a:lnSpc>
              <a:buAutoNum type="arabicPeriod"/>
            </a:pPr>
            <a:r>
              <a:rPr lang="en-US" sz="2471">
                <a:solidFill>
                  <a:srgbClr val="4A1656"/>
                </a:solidFill>
                <a:latin typeface="Open Sans"/>
                <a:ea typeface="Open Sans"/>
                <a:cs typeface="Open Sans"/>
                <a:sym typeface="Open Sans"/>
              </a:rPr>
              <a:t>Sealed clay crucible — controlled atmosphere</a:t>
            </a:r>
          </a:p>
          <a:p>
            <a:pPr marL="533617" lvl="1" indent="-266809" algn="just">
              <a:lnSpc>
                <a:spcPts val="4300"/>
              </a:lnSpc>
              <a:buAutoNum type="arabicPeriod"/>
            </a:pPr>
            <a:r>
              <a:rPr lang="en-US" sz="2471">
                <a:solidFill>
                  <a:srgbClr val="4A1656"/>
                </a:solidFill>
                <a:latin typeface="Open Sans"/>
                <a:ea typeface="Open Sans"/>
                <a:cs typeface="Open Sans"/>
                <a:sym typeface="Open Sans"/>
              </a:rPr>
              <a:t>High-temperature heating in a furnace</a:t>
            </a:r>
          </a:p>
          <a:p>
            <a:pPr marL="533617" lvl="1" indent="-266809" algn="just">
              <a:lnSpc>
                <a:spcPts val="4300"/>
              </a:lnSpc>
              <a:buAutoNum type="arabicPeriod"/>
            </a:pPr>
            <a:r>
              <a:rPr lang="en-US" sz="2471">
                <a:solidFill>
                  <a:srgbClr val="4A1656"/>
                </a:solidFill>
                <a:latin typeface="Open Sans"/>
                <a:ea typeface="Open Sans"/>
                <a:cs typeface="Open Sans"/>
                <a:sym typeface="Open Sans"/>
              </a:rPr>
              <a:t>Slow, controlled cooling to form carbides</a:t>
            </a:r>
          </a:p>
          <a:p>
            <a:pPr marL="533617" lvl="1" indent="-266809" algn="just">
              <a:lnSpc>
                <a:spcPts val="4300"/>
              </a:lnSpc>
              <a:buAutoNum type="arabicPeriod"/>
            </a:pPr>
            <a:r>
              <a:rPr lang="en-US" sz="2471">
                <a:solidFill>
                  <a:srgbClr val="4A1656"/>
                </a:solidFill>
                <a:latin typeface="Open Sans"/>
                <a:ea typeface="Open Sans"/>
                <a:cs typeface="Open Sans"/>
                <a:sym typeface="Open Sans"/>
              </a:rPr>
              <a:t>Forging and shaping the solid ingot</a:t>
            </a:r>
          </a:p>
        </p:txBody>
      </p:sp>
      <p:sp>
        <p:nvSpPr>
          <p:cNvPr id="12" name="Freeform 12"/>
          <p:cNvSpPr/>
          <p:nvPr/>
        </p:nvSpPr>
        <p:spPr>
          <a:xfrm>
            <a:off x="926175" y="978816"/>
            <a:ext cx="989368" cy="812167"/>
          </a:xfrm>
          <a:custGeom>
            <a:avLst/>
            <a:gdLst/>
            <a:ahLst/>
            <a:cxnLst/>
            <a:rect l="l" t="t" r="r" b="b"/>
            <a:pathLst>
              <a:path w="989368" h="812167">
                <a:moveTo>
                  <a:pt x="0" y="0"/>
                </a:moveTo>
                <a:lnTo>
                  <a:pt x="989368" y="0"/>
                </a:lnTo>
                <a:lnTo>
                  <a:pt x="989368" y="812167"/>
                </a:lnTo>
                <a:lnTo>
                  <a:pt x="0" y="812167"/>
                </a:lnTo>
                <a:lnTo>
                  <a:pt x="0" y="0"/>
                </a:lnTo>
                <a:close/>
              </a:path>
            </a:pathLst>
          </a:custGeom>
          <a:blipFill>
            <a:blip r:embed="rId4"/>
            <a:stretch>
              <a:fillRect/>
            </a:stretch>
          </a:blipFill>
        </p:spPr>
      </p:sp>
      <p:sp>
        <p:nvSpPr>
          <p:cNvPr id="13" name="TextBox 13"/>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4" name="Camera 13">
            <a:extLst>
              <a:ext uri="{FF2B5EF4-FFF2-40B4-BE49-F238E27FC236}">
                <a16:creationId xmlns:a16="http://schemas.microsoft.com/office/drawing/2014/main" id="{FCB68FB4-E963-4076-7E0B-3C8887BF3F0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4375469" y="75008"/>
            <a:ext cx="3822512" cy="2081173"/>
          </a:xfrm>
          <a:prstGeom prst="rect">
            <a:avLst/>
          </a:prstGeom>
          <a:ln>
            <a:noFill/>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578049" y="4150905"/>
            <a:ext cx="4607991" cy="4675163"/>
          </a:xfrm>
          <a:custGeom>
            <a:avLst/>
            <a:gdLst/>
            <a:ahLst/>
            <a:cxnLst/>
            <a:rect l="l" t="t" r="r" b="b"/>
            <a:pathLst>
              <a:path w="4607991" h="4675163">
                <a:moveTo>
                  <a:pt x="0" y="0"/>
                </a:moveTo>
                <a:lnTo>
                  <a:pt x="4607992" y="0"/>
                </a:lnTo>
                <a:lnTo>
                  <a:pt x="4607992" y="4675163"/>
                </a:lnTo>
                <a:lnTo>
                  <a:pt x="0" y="4675163"/>
                </a:lnTo>
                <a:lnTo>
                  <a:pt x="0" y="0"/>
                </a:lnTo>
                <a:close/>
              </a:path>
            </a:pathLst>
          </a:custGeom>
          <a:blipFill>
            <a:blip r:embed="rId2"/>
            <a:stretch>
              <a:fillRect/>
            </a:stretch>
          </a:blipFill>
        </p:spPr>
      </p:sp>
      <p:sp>
        <p:nvSpPr>
          <p:cNvPr id="4" name="Freeform 4"/>
          <p:cNvSpPr/>
          <p:nvPr/>
        </p:nvSpPr>
        <p:spPr>
          <a:xfrm>
            <a:off x="13978062" y="-3673623"/>
            <a:ext cx="8402808" cy="19541414"/>
          </a:xfrm>
          <a:custGeom>
            <a:avLst/>
            <a:gdLst/>
            <a:ahLst/>
            <a:cxnLst/>
            <a:rect l="l" t="t" r="r" b="b"/>
            <a:pathLst>
              <a:path w="8402808" h="19541414">
                <a:moveTo>
                  <a:pt x="0" y="0"/>
                </a:moveTo>
                <a:lnTo>
                  <a:pt x="8402808" y="0"/>
                </a:lnTo>
                <a:lnTo>
                  <a:pt x="8402808" y="19541414"/>
                </a:lnTo>
                <a:lnTo>
                  <a:pt x="0" y="19541414"/>
                </a:lnTo>
                <a:lnTo>
                  <a:pt x="0" y="0"/>
                </a:lnTo>
                <a:close/>
              </a:path>
            </a:pathLst>
          </a:custGeom>
          <a:blipFill>
            <a:blip r:embed="rId3">
              <a:alphaModFix amt="9999"/>
            </a:blip>
            <a:stretch>
              <a:fillRect/>
            </a:stretch>
          </a:blipFill>
        </p:spPr>
        <p:txBody>
          <a:bodyPr/>
          <a:lstStyle/>
          <a:p>
            <a:endParaRPr lang="en-IN" dirty="0"/>
          </a:p>
        </p:txBody>
      </p:sp>
      <p:sp>
        <p:nvSpPr>
          <p:cNvPr id="5" name="TextBox 5"/>
          <p:cNvSpPr txBox="1"/>
          <p:nvPr/>
        </p:nvSpPr>
        <p:spPr>
          <a:xfrm>
            <a:off x="1028700" y="2298145"/>
            <a:ext cx="14388976" cy="810955"/>
          </a:xfrm>
          <a:prstGeom prst="rect">
            <a:avLst/>
          </a:prstGeom>
        </p:spPr>
        <p:txBody>
          <a:bodyPr lIns="0" tIns="0" rIns="0" bIns="0" rtlCol="0" anchor="t">
            <a:spAutoFit/>
          </a:bodyPr>
          <a:lstStyle/>
          <a:p>
            <a:pPr marL="0" lvl="0" indent="0" algn="l">
              <a:lnSpc>
                <a:spcPts val="5561"/>
              </a:lnSpc>
            </a:pPr>
            <a:r>
              <a:rPr lang="en-US" sz="5197">
                <a:solidFill>
                  <a:srgbClr val="4A1656"/>
                </a:solidFill>
                <a:latin typeface="Bugaki"/>
                <a:ea typeface="Bugaki"/>
                <a:cs typeface="Bugaki"/>
                <a:sym typeface="Bugaki"/>
              </a:rPr>
              <a:t>The Science of Carbon</a:t>
            </a:r>
          </a:p>
        </p:txBody>
      </p:sp>
      <p:sp>
        <p:nvSpPr>
          <p:cNvPr id="6" name="TextBox 6"/>
          <p:cNvSpPr txBox="1"/>
          <p:nvPr/>
        </p:nvSpPr>
        <p:spPr>
          <a:xfrm>
            <a:off x="5600700" y="4547956"/>
            <a:ext cx="11658600" cy="2845143"/>
          </a:xfrm>
          <a:prstGeom prst="rect">
            <a:avLst/>
          </a:prstGeom>
        </p:spPr>
        <p:txBody>
          <a:bodyPr lIns="0" tIns="0" rIns="0" bIns="0" rtlCol="0" anchor="t">
            <a:spAutoFit/>
          </a:bodyPr>
          <a:lstStyle/>
          <a:p>
            <a:pPr marL="0" lvl="0" indent="0" algn="just">
              <a:lnSpc>
                <a:spcPts val="4590"/>
              </a:lnSpc>
            </a:pPr>
            <a:r>
              <a:rPr lang="en-US" sz="2306" i="1">
                <a:solidFill>
                  <a:srgbClr val="4A1656"/>
                </a:solidFill>
                <a:latin typeface="Open Sans Italics"/>
                <a:ea typeface="Open Sans Italics"/>
                <a:cs typeface="Open Sans Italics"/>
                <a:sym typeface="Open Sans Italics"/>
              </a:rPr>
              <a:t>Iron combined with controlled carbon content determines steel's properties. Carbon increases hardness and strength, but too little or too much carbon degrades performance. The Wootz process required precise control of carbon levels throughout heating and cooling. Traditional Indian smiths achieved this balance through accumulated empirical knowledge, long before modern metallurgy explained the underlying science.</a:t>
            </a:r>
          </a:p>
        </p:txBody>
      </p:sp>
      <p:sp>
        <p:nvSpPr>
          <p:cNvPr id="7" name="Freeform 7"/>
          <p:cNvSpPr/>
          <p:nvPr/>
        </p:nvSpPr>
        <p:spPr>
          <a:xfrm>
            <a:off x="978237" y="979645"/>
            <a:ext cx="883040" cy="863084"/>
          </a:xfrm>
          <a:custGeom>
            <a:avLst/>
            <a:gdLst/>
            <a:ahLst/>
            <a:cxnLst/>
            <a:rect l="l" t="t" r="r" b="b"/>
            <a:pathLst>
              <a:path w="883040" h="863084">
                <a:moveTo>
                  <a:pt x="0" y="0"/>
                </a:moveTo>
                <a:lnTo>
                  <a:pt x="883040" y="0"/>
                </a:lnTo>
                <a:lnTo>
                  <a:pt x="883040" y="863084"/>
                </a:lnTo>
                <a:lnTo>
                  <a:pt x="0" y="863084"/>
                </a:lnTo>
                <a:lnTo>
                  <a:pt x="0" y="0"/>
                </a:lnTo>
                <a:close/>
              </a:path>
            </a:pathLst>
          </a:custGeom>
          <a:blipFill>
            <a:blip r:embed="rId4"/>
            <a:stretch>
              <a:fillRect/>
            </a:stretch>
          </a:blipFill>
        </p:spPr>
      </p:sp>
      <p:sp>
        <p:nvSpPr>
          <p:cNvPr id="8" name="TextBox 8"/>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9" name="Camera 8">
            <a:extLst>
              <a:ext uri="{FF2B5EF4-FFF2-40B4-BE49-F238E27FC236}">
                <a16:creationId xmlns:a16="http://schemas.microsoft.com/office/drawing/2014/main" id="{B2E1D217-2F37-0D89-E2F5-B11A6A5866C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3978062" y="10391"/>
            <a:ext cx="4479643" cy="25908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4201226" y="2071893"/>
            <a:ext cx="8178318" cy="8401898"/>
          </a:xfrm>
          <a:custGeom>
            <a:avLst/>
            <a:gdLst/>
            <a:ahLst/>
            <a:cxnLst/>
            <a:rect l="l" t="t" r="r" b="b"/>
            <a:pathLst>
              <a:path w="8178318" h="8401898">
                <a:moveTo>
                  <a:pt x="0" y="0"/>
                </a:moveTo>
                <a:lnTo>
                  <a:pt x="8178318" y="0"/>
                </a:lnTo>
                <a:lnTo>
                  <a:pt x="8178318" y="8401898"/>
                </a:lnTo>
                <a:lnTo>
                  <a:pt x="0" y="8401898"/>
                </a:lnTo>
                <a:lnTo>
                  <a:pt x="0" y="0"/>
                </a:lnTo>
                <a:close/>
              </a:path>
            </a:pathLst>
          </a:custGeom>
          <a:blipFill>
            <a:blip r:embed="rId2">
              <a:alphaModFix amt="9999"/>
            </a:blip>
            <a:stretch>
              <a:fillRect/>
            </a:stretch>
          </a:blipFill>
        </p:spPr>
      </p:sp>
      <p:grpSp>
        <p:nvGrpSpPr>
          <p:cNvPr id="3" name="Group 3"/>
          <p:cNvGrpSpPr/>
          <p:nvPr/>
        </p:nvGrpSpPr>
        <p:grpSpPr>
          <a:xfrm>
            <a:off x="7966013" y="4360463"/>
            <a:ext cx="9293287" cy="3736740"/>
            <a:chOff x="0" y="0"/>
            <a:chExt cx="2447615" cy="984162"/>
          </a:xfrm>
        </p:grpSpPr>
        <p:sp>
          <p:nvSpPr>
            <p:cNvPr id="4" name="Freeform 4"/>
            <p:cNvSpPr/>
            <p:nvPr/>
          </p:nvSpPr>
          <p:spPr>
            <a:xfrm>
              <a:off x="0" y="0"/>
              <a:ext cx="2447615" cy="984162"/>
            </a:xfrm>
            <a:custGeom>
              <a:avLst/>
              <a:gdLst/>
              <a:ahLst/>
              <a:cxnLst/>
              <a:rect l="l" t="t" r="r" b="b"/>
              <a:pathLst>
                <a:path w="2447615" h="984162">
                  <a:moveTo>
                    <a:pt x="29157" y="0"/>
                  </a:moveTo>
                  <a:lnTo>
                    <a:pt x="2418457" y="0"/>
                  </a:lnTo>
                  <a:cubicBezTo>
                    <a:pt x="2426190" y="0"/>
                    <a:pt x="2433607" y="3072"/>
                    <a:pt x="2439075" y="8540"/>
                  </a:cubicBezTo>
                  <a:cubicBezTo>
                    <a:pt x="2444543" y="14008"/>
                    <a:pt x="2447615" y="21424"/>
                    <a:pt x="2447615" y="29157"/>
                  </a:cubicBezTo>
                  <a:lnTo>
                    <a:pt x="2447615" y="955005"/>
                  </a:lnTo>
                  <a:cubicBezTo>
                    <a:pt x="2447615" y="971108"/>
                    <a:pt x="2434561" y="984162"/>
                    <a:pt x="2418457" y="984162"/>
                  </a:cubicBezTo>
                  <a:lnTo>
                    <a:pt x="29157" y="984162"/>
                  </a:lnTo>
                  <a:cubicBezTo>
                    <a:pt x="21424" y="984162"/>
                    <a:pt x="14008" y="981090"/>
                    <a:pt x="8540" y="975622"/>
                  </a:cubicBezTo>
                  <a:cubicBezTo>
                    <a:pt x="3072" y="970154"/>
                    <a:pt x="0" y="962738"/>
                    <a:pt x="0" y="955005"/>
                  </a:cubicBezTo>
                  <a:lnTo>
                    <a:pt x="0" y="29157"/>
                  </a:lnTo>
                  <a:cubicBezTo>
                    <a:pt x="0" y="21424"/>
                    <a:pt x="3072" y="14008"/>
                    <a:pt x="8540" y="8540"/>
                  </a:cubicBezTo>
                  <a:cubicBezTo>
                    <a:pt x="14008" y="3072"/>
                    <a:pt x="21424" y="0"/>
                    <a:pt x="29157" y="0"/>
                  </a:cubicBezTo>
                  <a:close/>
                </a:path>
              </a:pathLst>
            </a:custGeom>
            <a:solidFill>
              <a:srgbClr val="00ACC1">
                <a:alpha val="80000"/>
              </a:srgbClr>
            </a:solidFill>
          </p:spPr>
        </p:sp>
        <p:sp>
          <p:nvSpPr>
            <p:cNvPr id="5" name="TextBox 5"/>
            <p:cNvSpPr txBox="1"/>
            <p:nvPr/>
          </p:nvSpPr>
          <p:spPr>
            <a:xfrm>
              <a:off x="0" y="-38100"/>
              <a:ext cx="2447615" cy="1022262"/>
            </a:xfrm>
            <a:prstGeom prst="rect">
              <a:avLst/>
            </a:prstGeom>
          </p:spPr>
          <p:txBody>
            <a:bodyPr lIns="50800" tIns="50800" rIns="50800" bIns="50800" rtlCol="0" anchor="ctr"/>
            <a:lstStyle/>
            <a:p>
              <a:pPr marL="0" lvl="0" indent="0" algn="ctr">
                <a:lnSpc>
                  <a:spcPts val="3360"/>
                </a:lnSpc>
              </a:pPr>
              <a:endParaRPr/>
            </a:p>
          </p:txBody>
        </p:sp>
      </p:grpSp>
      <p:grpSp>
        <p:nvGrpSpPr>
          <p:cNvPr id="6" name="Group 6"/>
          <p:cNvGrpSpPr/>
          <p:nvPr/>
        </p:nvGrpSpPr>
        <p:grpSpPr>
          <a:xfrm>
            <a:off x="1028700" y="3850005"/>
            <a:ext cx="7603480" cy="5408295"/>
            <a:chOff x="0" y="0"/>
            <a:chExt cx="1177978" cy="837886"/>
          </a:xfrm>
        </p:grpSpPr>
        <p:sp>
          <p:nvSpPr>
            <p:cNvPr id="7" name="Freeform 7"/>
            <p:cNvSpPr/>
            <p:nvPr/>
          </p:nvSpPr>
          <p:spPr>
            <a:xfrm>
              <a:off x="0" y="0"/>
              <a:ext cx="1177978" cy="837886"/>
            </a:xfrm>
            <a:custGeom>
              <a:avLst/>
              <a:gdLst/>
              <a:ahLst/>
              <a:cxnLst/>
              <a:rect l="l" t="t" r="r" b="b"/>
              <a:pathLst>
                <a:path w="1177978" h="837886">
                  <a:moveTo>
                    <a:pt x="35637" y="0"/>
                  </a:moveTo>
                  <a:lnTo>
                    <a:pt x="1142341" y="0"/>
                  </a:lnTo>
                  <a:cubicBezTo>
                    <a:pt x="1151792" y="0"/>
                    <a:pt x="1160857" y="3755"/>
                    <a:pt x="1167540" y="10438"/>
                  </a:cubicBezTo>
                  <a:cubicBezTo>
                    <a:pt x="1174223" y="17121"/>
                    <a:pt x="1177978" y="26186"/>
                    <a:pt x="1177978" y="35637"/>
                  </a:cubicBezTo>
                  <a:lnTo>
                    <a:pt x="1177978" y="802249"/>
                  </a:lnTo>
                  <a:cubicBezTo>
                    <a:pt x="1177978" y="811701"/>
                    <a:pt x="1174223" y="820765"/>
                    <a:pt x="1167540" y="827448"/>
                  </a:cubicBezTo>
                  <a:cubicBezTo>
                    <a:pt x="1160857" y="834132"/>
                    <a:pt x="1151792" y="837886"/>
                    <a:pt x="1142341" y="837886"/>
                  </a:cubicBezTo>
                  <a:lnTo>
                    <a:pt x="35637" y="837886"/>
                  </a:lnTo>
                  <a:cubicBezTo>
                    <a:pt x="26186" y="837886"/>
                    <a:pt x="17121" y="834132"/>
                    <a:pt x="10438" y="827448"/>
                  </a:cubicBezTo>
                  <a:cubicBezTo>
                    <a:pt x="3755" y="820765"/>
                    <a:pt x="0" y="811701"/>
                    <a:pt x="0" y="802249"/>
                  </a:cubicBezTo>
                  <a:lnTo>
                    <a:pt x="0" y="35637"/>
                  </a:lnTo>
                  <a:cubicBezTo>
                    <a:pt x="0" y="26186"/>
                    <a:pt x="3755" y="17121"/>
                    <a:pt x="10438" y="10438"/>
                  </a:cubicBezTo>
                  <a:cubicBezTo>
                    <a:pt x="17121" y="3755"/>
                    <a:pt x="26186" y="0"/>
                    <a:pt x="35637" y="0"/>
                  </a:cubicBezTo>
                  <a:close/>
                </a:path>
              </a:pathLst>
            </a:custGeom>
            <a:blipFill>
              <a:blip r:embed="rId3"/>
              <a:stretch>
                <a:fillRect l="-90" r="-90"/>
              </a:stretch>
            </a:blipFill>
          </p:spPr>
        </p:sp>
      </p:grpSp>
      <p:sp>
        <p:nvSpPr>
          <p:cNvPr id="9" name="TextBox 9"/>
          <p:cNvSpPr txBox="1"/>
          <p:nvPr/>
        </p:nvSpPr>
        <p:spPr>
          <a:xfrm>
            <a:off x="1028700" y="2288620"/>
            <a:ext cx="14388976" cy="804777"/>
          </a:xfrm>
          <a:prstGeom prst="rect">
            <a:avLst/>
          </a:prstGeom>
        </p:spPr>
        <p:txBody>
          <a:bodyPr lIns="0" tIns="0" rIns="0" bIns="0" rtlCol="0" anchor="t">
            <a:spAutoFit/>
          </a:bodyPr>
          <a:lstStyle/>
          <a:p>
            <a:pPr marL="0" lvl="0" indent="0" algn="l">
              <a:lnSpc>
                <a:spcPts val="5429"/>
              </a:lnSpc>
            </a:pPr>
            <a:r>
              <a:rPr lang="en-US" sz="5073">
                <a:solidFill>
                  <a:srgbClr val="4A1656"/>
                </a:solidFill>
                <a:latin typeface="Bugaki"/>
                <a:ea typeface="Bugaki"/>
                <a:cs typeface="Bugaki"/>
                <a:sym typeface="Bugaki"/>
              </a:rPr>
              <a:t>Microstructure: The Hidden Science</a:t>
            </a:r>
          </a:p>
        </p:txBody>
      </p:sp>
      <p:sp>
        <p:nvSpPr>
          <p:cNvPr id="10" name="TextBox 10"/>
          <p:cNvSpPr txBox="1"/>
          <p:nvPr/>
        </p:nvSpPr>
        <p:spPr>
          <a:xfrm>
            <a:off x="8932856" y="4634865"/>
            <a:ext cx="8025767" cy="2931675"/>
          </a:xfrm>
          <a:prstGeom prst="rect">
            <a:avLst/>
          </a:prstGeom>
        </p:spPr>
        <p:txBody>
          <a:bodyPr lIns="0" tIns="0" rIns="0" bIns="0" rtlCol="0" anchor="t">
            <a:spAutoFit/>
          </a:bodyPr>
          <a:lstStyle/>
          <a:p>
            <a:pPr marL="0" lvl="0" indent="0" algn="just">
              <a:lnSpc>
                <a:spcPts val="3918"/>
              </a:lnSpc>
            </a:pPr>
            <a:r>
              <a:rPr lang="en-US" sz="2251">
                <a:solidFill>
                  <a:srgbClr val="4A1656"/>
                </a:solidFill>
                <a:latin typeface="Open Sans"/>
                <a:ea typeface="Open Sans"/>
                <a:cs typeface="Open Sans"/>
                <a:sym typeface="Open Sans"/>
              </a:rPr>
              <a:t>• Carbide bands form during slow cooling of high-carbon steel</a:t>
            </a:r>
          </a:p>
          <a:p>
            <a:pPr marL="0" lvl="0" indent="0" algn="just">
              <a:lnSpc>
                <a:spcPts val="3918"/>
              </a:lnSpc>
            </a:pPr>
            <a:r>
              <a:rPr lang="en-US" sz="2251">
                <a:solidFill>
                  <a:srgbClr val="4A1656"/>
                </a:solidFill>
                <a:latin typeface="Open Sans"/>
                <a:ea typeface="Open Sans"/>
                <a:cs typeface="Open Sans"/>
                <a:sym typeface="Open Sans"/>
              </a:rPr>
              <a:t>• Steel microstructure determines hardness and toughness</a:t>
            </a:r>
          </a:p>
          <a:p>
            <a:pPr marL="0" lvl="0" indent="0" algn="just">
              <a:lnSpc>
                <a:spcPts val="3918"/>
              </a:lnSpc>
            </a:pPr>
            <a:r>
              <a:rPr lang="en-US" sz="2251">
                <a:solidFill>
                  <a:srgbClr val="4A1656"/>
                </a:solidFill>
                <a:latin typeface="Open Sans"/>
                <a:ea typeface="Open Sans"/>
                <a:cs typeface="Open Sans"/>
                <a:sym typeface="Open Sans"/>
              </a:rPr>
              <a:t>• Heat treatment and cooling rate control grain structure</a:t>
            </a:r>
          </a:p>
          <a:p>
            <a:pPr marL="0" lvl="0" indent="0" algn="just">
              <a:lnSpc>
                <a:spcPts val="3918"/>
              </a:lnSpc>
            </a:pPr>
            <a:r>
              <a:rPr lang="en-US" sz="2251">
                <a:solidFill>
                  <a:srgbClr val="4A1656"/>
                </a:solidFill>
                <a:latin typeface="Open Sans"/>
                <a:ea typeface="Open Sans"/>
                <a:cs typeface="Open Sans"/>
                <a:sym typeface="Open Sans"/>
              </a:rPr>
              <a:t>• Pattern development on blade surface reflects internal microstructure</a:t>
            </a:r>
          </a:p>
        </p:txBody>
      </p:sp>
      <p:sp>
        <p:nvSpPr>
          <p:cNvPr id="11" name="Freeform 11"/>
          <p:cNvSpPr/>
          <p:nvPr/>
        </p:nvSpPr>
        <p:spPr>
          <a:xfrm>
            <a:off x="990962" y="939016"/>
            <a:ext cx="860301" cy="935824"/>
          </a:xfrm>
          <a:custGeom>
            <a:avLst/>
            <a:gdLst/>
            <a:ahLst/>
            <a:cxnLst/>
            <a:rect l="l" t="t" r="r" b="b"/>
            <a:pathLst>
              <a:path w="860301" h="935824">
                <a:moveTo>
                  <a:pt x="0" y="0"/>
                </a:moveTo>
                <a:lnTo>
                  <a:pt x="860301" y="0"/>
                </a:lnTo>
                <a:lnTo>
                  <a:pt x="860301" y="935824"/>
                </a:lnTo>
                <a:lnTo>
                  <a:pt x="0" y="935824"/>
                </a:lnTo>
                <a:lnTo>
                  <a:pt x="0" y="0"/>
                </a:lnTo>
                <a:close/>
              </a:path>
            </a:pathLst>
          </a:custGeom>
          <a:blipFill>
            <a:blip r:embed="rId4"/>
            <a:stretch>
              <a:fillRect/>
            </a:stretch>
          </a:blipFill>
        </p:spPr>
      </p:sp>
      <p:sp>
        <p:nvSpPr>
          <p:cNvPr id="12" name="TextBox 12"/>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3" name="Camera 12">
            <a:extLst>
              <a:ext uri="{FF2B5EF4-FFF2-40B4-BE49-F238E27FC236}">
                <a16:creationId xmlns:a16="http://schemas.microsoft.com/office/drawing/2014/main" id="{6BC076B6-0141-8816-0C8D-C2896A8F2DDE}"/>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4441325" y="-12523"/>
            <a:ext cx="3899660" cy="252698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6094363" y="1806846"/>
            <a:ext cx="45720000" cy="8972550"/>
          </a:xfrm>
          <a:custGeom>
            <a:avLst/>
            <a:gdLst/>
            <a:ahLst/>
            <a:cxnLst/>
            <a:rect l="l" t="t" r="r" b="b"/>
            <a:pathLst>
              <a:path w="45720000" h="8972550">
                <a:moveTo>
                  <a:pt x="0" y="0"/>
                </a:moveTo>
                <a:lnTo>
                  <a:pt x="45720000" y="0"/>
                </a:lnTo>
                <a:lnTo>
                  <a:pt x="45720000" y="8972550"/>
                </a:lnTo>
                <a:lnTo>
                  <a:pt x="0" y="8972550"/>
                </a:lnTo>
                <a:lnTo>
                  <a:pt x="0" y="0"/>
                </a:lnTo>
                <a:close/>
              </a:path>
            </a:pathLst>
          </a:custGeom>
          <a:blipFill>
            <a:blip r:embed="rId2">
              <a:alphaModFix amt="9999"/>
            </a:blip>
            <a:stretch>
              <a:fillRect/>
            </a:stretch>
          </a:blipFill>
        </p:spPr>
      </p:sp>
      <p:sp>
        <p:nvSpPr>
          <p:cNvPr id="3" name="Freeform 3"/>
          <p:cNvSpPr/>
          <p:nvPr/>
        </p:nvSpPr>
        <p:spPr>
          <a:xfrm>
            <a:off x="11246842" y="4534643"/>
            <a:ext cx="7041158" cy="4365518"/>
          </a:xfrm>
          <a:custGeom>
            <a:avLst/>
            <a:gdLst/>
            <a:ahLst/>
            <a:cxnLst/>
            <a:rect l="l" t="t" r="r" b="b"/>
            <a:pathLst>
              <a:path w="7041158" h="4365518">
                <a:moveTo>
                  <a:pt x="0" y="0"/>
                </a:moveTo>
                <a:lnTo>
                  <a:pt x="7041158" y="0"/>
                </a:lnTo>
                <a:lnTo>
                  <a:pt x="7041158" y="4365518"/>
                </a:lnTo>
                <a:lnTo>
                  <a:pt x="0" y="4365518"/>
                </a:lnTo>
                <a:lnTo>
                  <a:pt x="0" y="0"/>
                </a:lnTo>
                <a:close/>
              </a:path>
            </a:pathLst>
          </a:custGeom>
          <a:blipFill>
            <a:blip r:embed="rId3"/>
            <a:stretch>
              <a:fillRect/>
            </a:stretch>
          </a:blipFill>
        </p:spPr>
      </p:sp>
      <p:sp>
        <p:nvSpPr>
          <p:cNvPr id="4" name="TextBox 4"/>
          <p:cNvSpPr txBox="1"/>
          <p:nvPr/>
        </p:nvSpPr>
        <p:spPr>
          <a:xfrm>
            <a:off x="8632180" y="981075"/>
            <a:ext cx="8627120" cy="495354"/>
          </a:xfrm>
          <a:prstGeom prst="rect">
            <a:avLst/>
          </a:prstGeom>
        </p:spPr>
        <p:txBody>
          <a:bodyPr lIns="0" tIns="0" rIns="0" bIns="0" rtlCol="0" anchor="t">
            <a:spAutoFit/>
          </a:bodyPr>
          <a:lstStyle/>
          <a:p>
            <a:pPr marL="0" lvl="0" indent="0" algn="r">
              <a:lnSpc>
                <a:spcPts val="4197"/>
              </a:lnSpc>
              <a:spcBef>
                <a:spcPct val="0"/>
              </a:spcBef>
            </a:pPr>
            <a:r>
              <a:rPr lang="en-US" sz="2997" i="1">
                <a:solidFill>
                  <a:srgbClr val="4A1656"/>
                </a:solidFill>
                <a:latin typeface="Open Sans Italics"/>
                <a:ea typeface="Open Sans Italics"/>
                <a:cs typeface="Open Sans Italics"/>
                <a:sym typeface="Open Sans Italics"/>
              </a:rPr>
              <a:t>Wootz Steel: Ancient Indian Metallurgy</a:t>
            </a:r>
          </a:p>
        </p:txBody>
      </p:sp>
      <p:sp>
        <p:nvSpPr>
          <p:cNvPr id="5" name="TextBox 5"/>
          <p:cNvSpPr txBox="1"/>
          <p:nvPr/>
        </p:nvSpPr>
        <p:spPr>
          <a:xfrm>
            <a:off x="1028700" y="2288620"/>
            <a:ext cx="14388976" cy="1034867"/>
          </a:xfrm>
          <a:prstGeom prst="rect">
            <a:avLst/>
          </a:prstGeom>
        </p:spPr>
        <p:txBody>
          <a:bodyPr lIns="0" tIns="0" rIns="0" bIns="0" rtlCol="0" anchor="t">
            <a:spAutoFit/>
          </a:bodyPr>
          <a:lstStyle/>
          <a:p>
            <a:pPr marL="0" lvl="0" indent="0" algn="l">
              <a:lnSpc>
                <a:spcPts val="7063"/>
              </a:lnSpc>
            </a:pPr>
            <a:r>
              <a:rPr lang="en-US" sz="6601">
                <a:solidFill>
                  <a:srgbClr val="4A1656"/>
                </a:solidFill>
                <a:latin typeface="Bugaki"/>
                <a:ea typeface="Bugaki"/>
                <a:cs typeface="Bugaki"/>
                <a:sym typeface="Bugaki"/>
              </a:rPr>
              <a:t>From Wootz to Famous Blades</a:t>
            </a:r>
          </a:p>
        </p:txBody>
      </p:sp>
      <p:sp>
        <p:nvSpPr>
          <p:cNvPr id="6" name="TextBox 6"/>
          <p:cNvSpPr txBox="1"/>
          <p:nvPr/>
        </p:nvSpPr>
        <p:spPr>
          <a:xfrm>
            <a:off x="1028700" y="4424638"/>
            <a:ext cx="10858500" cy="3319055"/>
          </a:xfrm>
          <a:prstGeom prst="rect">
            <a:avLst/>
          </a:prstGeom>
        </p:spPr>
        <p:txBody>
          <a:bodyPr lIns="0" tIns="0" rIns="0" bIns="0" rtlCol="0" anchor="t">
            <a:spAutoFit/>
          </a:bodyPr>
          <a:lstStyle/>
          <a:p>
            <a:pPr marL="0" lvl="0" indent="0" algn="just">
              <a:lnSpc>
                <a:spcPts val="5392"/>
              </a:lnSpc>
            </a:pPr>
            <a:r>
              <a:rPr lang="en-US" sz="2709" i="1">
                <a:solidFill>
                  <a:srgbClr val="4A1656"/>
                </a:solidFill>
                <a:latin typeface="Open Sans Italics"/>
                <a:ea typeface="Open Sans Italics"/>
                <a:cs typeface="Open Sans Italics"/>
                <a:sym typeface="Open Sans Italics"/>
              </a:rPr>
              <a:t>• Wootz ingots were exported across trade routes</a:t>
            </a:r>
          </a:p>
          <a:p>
            <a:pPr marL="0" lvl="0" indent="0" algn="just">
              <a:lnSpc>
                <a:spcPts val="5392"/>
              </a:lnSpc>
            </a:pPr>
            <a:r>
              <a:rPr lang="en-US" sz="2709" i="1">
                <a:solidFill>
                  <a:srgbClr val="4A1656"/>
                </a:solidFill>
                <a:latin typeface="Open Sans Italics"/>
                <a:ea typeface="Open Sans Italics"/>
                <a:cs typeface="Open Sans Italics"/>
                <a:sym typeface="Open Sans Italics"/>
              </a:rPr>
              <a:t>• Blades were forged by specialist smiths</a:t>
            </a:r>
          </a:p>
          <a:p>
            <a:pPr marL="0" lvl="0" indent="0" algn="just">
              <a:lnSpc>
                <a:spcPts val="5392"/>
              </a:lnSpc>
            </a:pPr>
            <a:r>
              <a:rPr lang="en-US" sz="2709" i="1">
                <a:solidFill>
                  <a:srgbClr val="4A1656"/>
                </a:solidFill>
                <a:latin typeface="Open Sans Italics"/>
                <a:ea typeface="Open Sans Italics"/>
                <a:cs typeface="Open Sans Italics"/>
                <a:sym typeface="Open Sans Italics"/>
              </a:rPr>
              <a:t>• Damascus blades became associated with distinctive wavy patterns</a:t>
            </a:r>
          </a:p>
          <a:p>
            <a:pPr marL="0" lvl="0" indent="0" algn="just">
              <a:lnSpc>
                <a:spcPts val="5392"/>
              </a:lnSpc>
            </a:pPr>
            <a:r>
              <a:rPr lang="en-US" sz="2709" i="1">
                <a:solidFill>
                  <a:srgbClr val="4A1656"/>
                </a:solidFill>
                <a:latin typeface="Open Sans Italics"/>
                <a:ea typeface="Open Sans Italics"/>
                <a:cs typeface="Open Sans Italics"/>
                <a:sym typeface="Open Sans Italics"/>
              </a:rPr>
              <a:t>• Material quality depended on careful processing</a:t>
            </a:r>
          </a:p>
          <a:p>
            <a:pPr marL="0" lvl="0" indent="0" algn="just">
              <a:lnSpc>
                <a:spcPts val="5392"/>
              </a:lnSpc>
            </a:pPr>
            <a:r>
              <a:rPr lang="en-US" sz="2709" i="1">
                <a:solidFill>
                  <a:srgbClr val="4A1656"/>
                </a:solidFill>
                <a:latin typeface="Open Sans Italics"/>
                <a:ea typeface="Open Sans Italics"/>
                <a:cs typeface="Open Sans Italics"/>
                <a:sym typeface="Open Sans Italics"/>
              </a:rPr>
              <a:t>• Indian production and later forging traditions were distinct stages</a:t>
            </a:r>
          </a:p>
        </p:txBody>
      </p:sp>
      <p:sp>
        <p:nvSpPr>
          <p:cNvPr id="7" name="Freeform 7"/>
          <p:cNvSpPr/>
          <p:nvPr/>
        </p:nvSpPr>
        <p:spPr>
          <a:xfrm>
            <a:off x="772932" y="932119"/>
            <a:ext cx="1159626" cy="882650"/>
          </a:xfrm>
          <a:custGeom>
            <a:avLst/>
            <a:gdLst/>
            <a:ahLst/>
            <a:cxnLst/>
            <a:rect l="l" t="t" r="r" b="b"/>
            <a:pathLst>
              <a:path w="1159626" h="882650">
                <a:moveTo>
                  <a:pt x="0" y="0"/>
                </a:moveTo>
                <a:lnTo>
                  <a:pt x="1159626" y="0"/>
                </a:lnTo>
                <a:lnTo>
                  <a:pt x="1159626" y="882650"/>
                </a:lnTo>
                <a:lnTo>
                  <a:pt x="0" y="882650"/>
                </a:lnTo>
                <a:lnTo>
                  <a:pt x="0" y="0"/>
                </a:lnTo>
                <a:close/>
              </a:path>
            </a:pathLst>
          </a:custGeom>
          <a:blipFill>
            <a:blip r:embed="rId4"/>
            <a:stretch>
              <a:fillRect/>
            </a:stretch>
          </a:blipFill>
        </p:spPr>
      </p:sp>
      <p:sp>
        <p:nvSpPr>
          <p:cNvPr id="8" name="TextBox 8"/>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9" name="Camera 8">
            <a:extLst>
              <a:ext uri="{FF2B5EF4-FFF2-40B4-BE49-F238E27FC236}">
                <a16:creationId xmlns:a16="http://schemas.microsoft.com/office/drawing/2014/main" id="{27C678C5-FDE9-E9C5-A061-11D6AC2D4172}"/>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228600" y="7885429"/>
            <a:ext cx="3788245" cy="240157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3913628" y="984863"/>
            <a:ext cx="10531571" cy="10415200"/>
          </a:xfrm>
          <a:custGeom>
            <a:avLst/>
            <a:gdLst/>
            <a:ahLst/>
            <a:cxnLst/>
            <a:rect l="l" t="t" r="r" b="b"/>
            <a:pathLst>
              <a:path w="10531571" h="10415200">
                <a:moveTo>
                  <a:pt x="0" y="0"/>
                </a:moveTo>
                <a:lnTo>
                  <a:pt x="10531570" y="0"/>
                </a:lnTo>
                <a:lnTo>
                  <a:pt x="10531570" y="10415199"/>
                </a:lnTo>
                <a:lnTo>
                  <a:pt x="0" y="10415199"/>
                </a:lnTo>
                <a:lnTo>
                  <a:pt x="0" y="0"/>
                </a:lnTo>
                <a:close/>
              </a:path>
            </a:pathLst>
          </a:custGeom>
          <a:blipFill>
            <a:blip r:embed="rId2">
              <a:alphaModFix amt="9999"/>
            </a:blip>
            <a:stretch>
              <a:fillRect/>
            </a:stretch>
          </a:blipFill>
        </p:spPr>
      </p:sp>
      <p:sp>
        <p:nvSpPr>
          <p:cNvPr id="3" name="Freeform 3"/>
          <p:cNvSpPr/>
          <p:nvPr/>
        </p:nvSpPr>
        <p:spPr>
          <a:xfrm>
            <a:off x="1591190" y="2444528"/>
            <a:ext cx="4354020" cy="5750774"/>
          </a:xfrm>
          <a:custGeom>
            <a:avLst/>
            <a:gdLst/>
            <a:ahLst/>
            <a:cxnLst/>
            <a:rect l="l" t="t" r="r" b="b"/>
            <a:pathLst>
              <a:path w="4354020" h="5750774">
                <a:moveTo>
                  <a:pt x="0" y="0"/>
                </a:moveTo>
                <a:lnTo>
                  <a:pt x="4354020" y="0"/>
                </a:lnTo>
                <a:lnTo>
                  <a:pt x="4354020" y="5750774"/>
                </a:lnTo>
                <a:lnTo>
                  <a:pt x="0" y="5750774"/>
                </a:lnTo>
                <a:lnTo>
                  <a:pt x="0" y="0"/>
                </a:lnTo>
                <a:close/>
              </a:path>
            </a:pathLst>
          </a:custGeom>
          <a:blipFill>
            <a:blip r:embed="rId3"/>
            <a:stretch>
              <a:fillRect/>
            </a:stretch>
          </a:blipFill>
        </p:spPr>
      </p:sp>
      <p:sp>
        <p:nvSpPr>
          <p:cNvPr id="4" name="Freeform 4"/>
          <p:cNvSpPr/>
          <p:nvPr/>
        </p:nvSpPr>
        <p:spPr>
          <a:xfrm>
            <a:off x="6179840" y="3585447"/>
            <a:ext cx="5596194" cy="4343838"/>
          </a:xfrm>
          <a:custGeom>
            <a:avLst/>
            <a:gdLst/>
            <a:ahLst/>
            <a:cxnLst/>
            <a:rect l="l" t="t" r="r" b="b"/>
            <a:pathLst>
              <a:path w="5596194" h="4343838">
                <a:moveTo>
                  <a:pt x="0" y="0"/>
                </a:moveTo>
                <a:lnTo>
                  <a:pt x="5596194" y="0"/>
                </a:lnTo>
                <a:lnTo>
                  <a:pt x="5596194" y="4343838"/>
                </a:lnTo>
                <a:lnTo>
                  <a:pt x="0" y="4343838"/>
                </a:lnTo>
                <a:lnTo>
                  <a:pt x="0" y="0"/>
                </a:lnTo>
                <a:close/>
              </a:path>
            </a:pathLst>
          </a:custGeom>
          <a:blipFill>
            <a:blip r:embed="rId4"/>
            <a:stretch>
              <a:fillRect/>
            </a:stretch>
          </a:blipFill>
        </p:spPr>
      </p:sp>
      <p:sp>
        <p:nvSpPr>
          <p:cNvPr id="5" name="Freeform 5"/>
          <p:cNvSpPr/>
          <p:nvPr/>
        </p:nvSpPr>
        <p:spPr>
          <a:xfrm>
            <a:off x="11823565" y="2148773"/>
            <a:ext cx="4194904" cy="6703307"/>
          </a:xfrm>
          <a:custGeom>
            <a:avLst/>
            <a:gdLst/>
            <a:ahLst/>
            <a:cxnLst/>
            <a:rect l="l" t="t" r="r" b="b"/>
            <a:pathLst>
              <a:path w="4194904" h="6703307">
                <a:moveTo>
                  <a:pt x="0" y="0"/>
                </a:moveTo>
                <a:lnTo>
                  <a:pt x="4194904" y="0"/>
                </a:lnTo>
                <a:lnTo>
                  <a:pt x="4194904" y="6703307"/>
                </a:lnTo>
                <a:lnTo>
                  <a:pt x="0" y="6703307"/>
                </a:lnTo>
                <a:lnTo>
                  <a:pt x="0" y="0"/>
                </a:lnTo>
                <a:close/>
              </a:path>
            </a:pathLst>
          </a:custGeom>
          <a:blipFill>
            <a:blip r:embed="rId5"/>
            <a:stretch>
              <a:fillRect/>
            </a:stretch>
          </a:blipFill>
        </p:spPr>
      </p:sp>
      <p:sp>
        <p:nvSpPr>
          <p:cNvPr id="6" name="TextBox 6"/>
          <p:cNvSpPr txBox="1"/>
          <p:nvPr/>
        </p:nvSpPr>
        <p:spPr>
          <a:xfrm>
            <a:off x="8632180" y="981075"/>
            <a:ext cx="8627120" cy="495354"/>
          </a:xfrm>
          <a:prstGeom prst="rect">
            <a:avLst/>
          </a:prstGeom>
        </p:spPr>
        <p:txBody>
          <a:bodyPr lIns="0" tIns="0" rIns="0" bIns="0" rtlCol="0" anchor="t">
            <a:spAutoFit/>
          </a:bodyPr>
          <a:lstStyle/>
          <a:p>
            <a:pPr marL="0" lvl="0" indent="0" algn="r">
              <a:lnSpc>
                <a:spcPts val="4197"/>
              </a:lnSpc>
              <a:spcBef>
                <a:spcPct val="0"/>
              </a:spcBef>
            </a:pPr>
            <a:r>
              <a:rPr lang="en-US" sz="2997" i="1">
                <a:solidFill>
                  <a:srgbClr val="4A1656"/>
                </a:solidFill>
                <a:latin typeface="Open Sans Italics"/>
                <a:ea typeface="Open Sans Italics"/>
                <a:cs typeface="Open Sans Italics"/>
                <a:sym typeface="Open Sans Italics"/>
              </a:rPr>
              <a:t>Final Defense Session 2026</a:t>
            </a:r>
          </a:p>
        </p:txBody>
      </p:sp>
      <p:sp>
        <p:nvSpPr>
          <p:cNvPr id="7" name="TextBox 7"/>
          <p:cNvSpPr txBox="1"/>
          <p:nvPr/>
        </p:nvSpPr>
        <p:spPr>
          <a:xfrm>
            <a:off x="1949512" y="2030135"/>
            <a:ext cx="14388976" cy="777051"/>
          </a:xfrm>
          <a:prstGeom prst="rect">
            <a:avLst/>
          </a:prstGeom>
        </p:spPr>
        <p:txBody>
          <a:bodyPr lIns="0" tIns="0" rIns="0" bIns="0" rtlCol="0" anchor="t">
            <a:spAutoFit/>
          </a:bodyPr>
          <a:lstStyle/>
          <a:p>
            <a:pPr marL="0" lvl="0" indent="0" algn="ctr">
              <a:lnSpc>
                <a:spcPts val="5296"/>
              </a:lnSpc>
            </a:pPr>
            <a:r>
              <a:rPr lang="en-US" sz="4950">
                <a:solidFill>
                  <a:srgbClr val="4A1656"/>
                </a:solidFill>
                <a:latin typeface="Bugaki"/>
                <a:ea typeface="Bugaki"/>
                <a:cs typeface="Bugaki"/>
                <a:sym typeface="Bugaki"/>
              </a:rPr>
              <a:t>Why Was It Technologically Important?</a:t>
            </a:r>
          </a:p>
        </p:txBody>
      </p:sp>
      <p:sp>
        <p:nvSpPr>
          <p:cNvPr id="8" name="Freeform 8"/>
          <p:cNvSpPr/>
          <p:nvPr/>
        </p:nvSpPr>
        <p:spPr>
          <a:xfrm>
            <a:off x="1004483" y="933539"/>
            <a:ext cx="834172" cy="933723"/>
          </a:xfrm>
          <a:custGeom>
            <a:avLst/>
            <a:gdLst/>
            <a:ahLst/>
            <a:cxnLst/>
            <a:rect l="l" t="t" r="r" b="b"/>
            <a:pathLst>
              <a:path w="834172" h="933723">
                <a:moveTo>
                  <a:pt x="0" y="0"/>
                </a:moveTo>
                <a:lnTo>
                  <a:pt x="834172" y="0"/>
                </a:lnTo>
                <a:lnTo>
                  <a:pt x="834172" y="933723"/>
                </a:lnTo>
                <a:lnTo>
                  <a:pt x="0" y="933723"/>
                </a:lnTo>
                <a:lnTo>
                  <a:pt x="0" y="0"/>
                </a:lnTo>
                <a:close/>
              </a:path>
            </a:pathLst>
          </a:custGeom>
          <a:blipFill>
            <a:blip r:embed="rId6"/>
            <a:stretch>
              <a:fillRect/>
            </a:stretch>
          </a:blipFill>
        </p:spPr>
      </p:sp>
      <p:sp>
        <p:nvSpPr>
          <p:cNvPr id="9" name="TextBox 9"/>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0" name="Camera 9">
            <a:extLst>
              <a:ext uri="{FF2B5EF4-FFF2-40B4-BE49-F238E27FC236}">
                <a16:creationId xmlns:a16="http://schemas.microsoft.com/office/drawing/2014/main" id="{6746ACFF-A467-60C4-8138-2295C26C438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7"/>
              </a:ext>
            </a:extLst>
          </a:blip>
          <a:stretch>
            <a:fillRect/>
          </a:stretch>
        </p:blipFill>
        <p:spPr>
          <a:xfrm flipH="1">
            <a:off x="192305" y="7195670"/>
            <a:ext cx="4724400" cy="30861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2453406" y="-992035"/>
            <a:ext cx="11850780" cy="10680515"/>
          </a:xfrm>
          <a:custGeom>
            <a:avLst/>
            <a:gdLst/>
            <a:ahLst/>
            <a:cxnLst/>
            <a:rect l="l" t="t" r="r" b="b"/>
            <a:pathLst>
              <a:path w="11850780" h="10680515">
                <a:moveTo>
                  <a:pt x="0" y="0"/>
                </a:moveTo>
                <a:lnTo>
                  <a:pt x="11850780" y="0"/>
                </a:lnTo>
                <a:lnTo>
                  <a:pt x="11850780" y="10680515"/>
                </a:lnTo>
                <a:lnTo>
                  <a:pt x="0" y="10680515"/>
                </a:lnTo>
                <a:lnTo>
                  <a:pt x="0" y="0"/>
                </a:lnTo>
                <a:close/>
              </a:path>
            </a:pathLst>
          </a:custGeom>
          <a:blipFill>
            <a:blip r:embed="rId2">
              <a:alphaModFix amt="9999"/>
            </a:blip>
            <a:stretch>
              <a:fillRect/>
            </a:stretch>
          </a:blipFill>
        </p:spPr>
      </p:sp>
      <p:sp>
        <p:nvSpPr>
          <p:cNvPr id="3" name="Freeform 3"/>
          <p:cNvSpPr/>
          <p:nvPr/>
        </p:nvSpPr>
        <p:spPr>
          <a:xfrm>
            <a:off x="9259553" y="3643528"/>
            <a:ext cx="9119243" cy="4480029"/>
          </a:xfrm>
          <a:custGeom>
            <a:avLst/>
            <a:gdLst/>
            <a:ahLst/>
            <a:cxnLst/>
            <a:rect l="l" t="t" r="r" b="b"/>
            <a:pathLst>
              <a:path w="9119243" h="4480029">
                <a:moveTo>
                  <a:pt x="0" y="0"/>
                </a:moveTo>
                <a:lnTo>
                  <a:pt x="9119243" y="0"/>
                </a:lnTo>
                <a:lnTo>
                  <a:pt x="9119243" y="4480029"/>
                </a:lnTo>
                <a:lnTo>
                  <a:pt x="0" y="4480029"/>
                </a:lnTo>
                <a:lnTo>
                  <a:pt x="0" y="0"/>
                </a:lnTo>
                <a:close/>
              </a:path>
            </a:pathLst>
          </a:custGeom>
          <a:blipFill>
            <a:blip r:embed="rId3"/>
            <a:stretch>
              <a:fillRect t="-633" b="-633"/>
            </a:stretch>
          </a:blipFill>
        </p:spPr>
      </p:sp>
      <p:sp>
        <p:nvSpPr>
          <p:cNvPr id="5" name="TextBox 5"/>
          <p:cNvSpPr txBox="1"/>
          <p:nvPr/>
        </p:nvSpPr>
        <p:spPr>
          <a:xfrm>
            <a:off x="1028700" y="2288620"/>
            <a:ext cx="14388976" cy="926992"/>
          </a:xfrm>
          <a:prstGeom prst="rect">
            <a:avLst/>
          </a:prstGeom>
        </p:spPr>
        <p:txBody>
          <a:bodyPr lIns="0" tIns="0" rIns="0" bIns="0" rtlCol="0" anchor="t">
            <a:spAutoFit/>
          </a:bodyPr>
          <a:lstStyle/>
          <a:p>
            <a:pPr marL="0" lvl="0" indent="0" algn="l">
              <a:lnSpc>
                <a:spcPts val="6268"/>
              </a:lnSpc>
            </a:pPr>
            <a:r>
              <a:rPr lang="en-US" sz="5858">
                <a:solidFill>
                  <a:srgbClr val="4A1656"/>
                </a:solidFill>
                <a:latin typeface="Bugaki"/>
                <a:ea typeface="Bugaki"/>
                <a:cs typeface="Bugaki"/>
                <a:sym typeface="Bugaki"/>
              </a:rPr>
              <a:t>Decline of the Wootz Tradition</a:t>
            </a:r>
          </a:p>
        </p:txBody>
      </p:sp>
      <p:sp>
        <p:nvSpPr>
          <p:cNvPr id="6" name="TextBox 6"/>
          <p:cNvSpPr txBox="1"/>
          <p:nvPr/>
        </p:nvSpPr>
        <p:spPr>
          <a:xfrm>
            <a:off x="1028700" y="4036613"/>
            <a:ext cx="8115300" cy="2247200"/>
          </a:xfrm>
          <a:prstGeom prst="rect">
            <a:avLst/>
          </a:prstGeom>
        </p:spPr>
        <p:txBody>
          <a:bodyPr lIns="0" tIns="0" rIns="0" bIns="0" rtlCol="0" anchor="t">
            <a:spAutoFit/>
          </a:bodyPr>
          <a:lstStyle/>
          <a:p>
            <a:pPr marL="0" lvl="0" indent="0" algn="just">
              <a:lnSpc>
                <a:spcPts val="3556"/>
              </a:lnSpc>
            </a:pPr>
            <a:r>
              <a:rPr lang="en-US" sz="2778" b="1">
                <a:solidFill>
                  <a:srgbClr val="4A1656"/>
                </a:solidFill>
                <a:latin typeface="Open Sans Bold"/>
                <a:ea typeface="Open Sans Bold"/>
                <a:cs typeface="Open Sans Bold"/>
                <a:sym typeface="Open Sans Bold"/>
              </a:rPr>
              <a:t>Colonial-era economic disruptions replaced traditional craft industries; industrial steelmaking offered mass production at lower cost, eliminating demand for artisanal Wootz steel.</a:t>
            </a:r>
          </a:p>
        </p:txBody>
      </p:sp>
      <p:sp>
        <p:nvSpPr>
          <p:cNvPr id="7" name="TextBox 7"/>
          <p:cNvSpPr txBox="1"/>
          <p:nvPr/>
        </p:nvSpPr>
        <p:spPr>
          <a:xfrm>
            <a:off x="890262" y="6779946"/>
            <a:ext cx="8253738" cy="2249395"/>
          </a:xfrm>
          <a:prstGeom prst="rect">
            <a:avLst/>
          </a:prstGeom>
        </p:spPr>
        <p:txBody>
          <a:bodyPr lIns="0" tIns="0" rIns="0" bIns="0" rtlCol="0" anchor="t">
            <a:spAutoFit/>
          </a:bodyPr>
          <a:lstStyle/>
          <a:p>
            <a:pPr marL="0" lvl="0" indent="0" algn="just">
              <a:lnSpc>
                <a:spcPts val="3559"/>
              </a:lnSpc>
            </a:pPr>
            <a:r>
              <a:rPr lang="en-US" sz="2781" b="1">
                <a:solidFill>
                  <a:srgbClr val="4A1656"/>
                </a:solidFill>
                <a:latin typeface="Open Sans Bold"/>
                <a:ea typeface="Open Sans Bold"/>
                <a:cs typeface="Open Sans Bold"/>
                <a:sym typeface="Open Sans Bold"/>
              </a:rPr>
              <a:t>Specialist knowledge of crucible techniques was held by small communities; as production ceased, the precise methods for controlled carbon content and slow cooling were gradually lost.</a:t>
            </a:r>
          </a:p>
        </p:txBody>
      </p:sp>
      <p:sp>
        <p:nvSpPr>
          <p:cNvPr id="8" name="Freeform 8"/>
          <p:cNvSpPr/>
          <p:nvPr/>
        </p:nvSpPr>
        <p:spPr>
          <a:xfrm>
            <a:off x="890262" y="701626"/>
            <a:ext cx="929906" cy="1278278"/>
          </a:xfrm>
          <a:custGeom>
            <a:avLst/>
            <a:gdLst/>
            <a:ahLst/>
            <a:cxnLst/>
            <a:rect l="l" t="t" r="r" b="b"/>
            <a:pathLst>
              <a:path w="929906" h="1278278">
                <a:moveTo>
                  <a:pt x="0" y="0"/>
                </a:moveTo>
                <a:lnTo>
                  <a:pt x="929906" y="0"/>
                </a:lnTo>
                <a:lnTo>
                  <a:pt x="929906" y="1278277"/>
                </a:lnTo>
                <a:lnTo>
                  <a:pt x="0" y="1278277"/>
                </a:lnTo>
                <a:lnTo>
                  <a:pt x="0" y="0"/>
                </a:lnTo>
                <a:close/>
              </a:path>
            </a:pathLst>
          </a:custGeom>
          <a:blipFill>
            <a:blip r:embed="rId4"/>
            <a:stretch>
              <a:fillRect/>
            </a:stretch>
          </a:blipFill>
        </p:spPr>
      </p:sp>
      <p:sp>
        <p:nvSpPr>
          <p:cNvPr id="9" name="TextBox 9"/>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0" name="Camera 9">
            <a:extLst>
              <a:ext uri="{FF2B5EF4-FFF2-40B4-BE49-F238E27FC236}">
                <a16:creationId xmlns:a16="http://schemas.microsoft.com/office/drawing/2014/main" id="{BDCA8187-1435-7B46-D652-93EA628D0C1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4798796" y="-3464"/>
            <a:ext cx="3805806" cy="251375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2683314" y="417785"/>
            <a:ext cx="11260591" cy="11345683"/>
          </a:xfrm>
          <a:custGeom>
            <a:avLst/>
            <a:gdLst/>
            <a:ahLst/>
            <a:cxnLst/>
            <a:rect l="l" t="t" r="r" b="b"/>
            <a:pathLst>
              <a:path w="11260591" h="11345683">
                <a:moveTo>
                  <a:pt x="0" y="0"/>
                </a:moveTo>
                <a:lnTo>
                  <a:pt x="11260591" y="0"/>
                </a:lnTo>
                <a:lnTo>
                  <a:pt x="11260591" y="11345683"/>
                </a:lnTo>
                <a:lnTo>
                  <a:pt x="0" y="11345683"/>
                </a:lnTo>
                <a:lnTo>
                  <a:pt x="0" y="0"/>
                </a:lnTo>
                <a:close/>
              </a:path>
            </a:pathLst>
          </a:custGeom>
          <a:blipFill>
            <a:blip r:embed="rId2">
              <a:alphaModFix amt="9999"/>
            </a:blip>
            <a:stretch>
              <a:fillRect/>
            </a:stretch>
          </a:blipFill>
        </p:spPr>
      </p:sp>
      <p:grpSp>
        <p:nvGrpSpPr>
          <p:cNvPr id="3" name="Group 3"/>
          <p:cNvGrpSpPr/>
          <p:nvPr/>
        </p:nvGrpSpPr>
        <p:grpSpPr>
          <a:xfrm>
            <a:off x="7966013" y="4360463"/>
            <a:ext cx="9293287" cy="3736740"/>
            <a:chOff x="0" y="0"/>
            <a:chExt cx="2447615" cy="984162"/>
          </a:xfrm>
        </p:grpSpPr>
        <p:sp>
          <p:nvSpPr>
            <p:cNvPr id="4" name="Freeform 4"/>
            <p:cNvSpPr/>
            <p:nvPr/>
          </p:nvSpPr>
          <p:spPr>
            <a:xfrm>
              <a:off x="0" y="0"/>
              <a:ext cx="2447615" cy="984162"/>
            </a:xfrm>
            <a:custGeom>
              <a:avLst/>
              <a:gdLst/>
              <a:ahLst/>
              <a:cxnLst/>
              <a:rect l="l" t="t" r="r" b="b"/>
              <a:pathLst>
                <a:path w="2447615" h="984162">
                  <a:moveTo>
                    <a:pt x="29157" y="0"/>
                  </a:moveTo>
                  <a:lnTo>
                    <a:pt x="2418457" y="0"/>
                  </a:lnTo>
                  <a:cubicBezTo>
                    <a:pt x="2426190" y="0"/>
                    <a:pt x="2433607" y="3072"/>
                    <a:pt x="2439075" y="8540"/>
                  </a:cubicBezTo>
                  <a:cubicBezTo>
                    <a:pt x="2444543" y="14008"/>
                    <a:pt x="2447615" y="21424"/>
                    <a:pt x="2447615" y="29157"/>
                  </a:cubicBezTo>
                  <a:lnTo>
                    <a:pt x="2447615" y="955005"/>
                  </a:lnTo>
                  <a:cubicBezTo>
                    <a:pt x="2447615" y="971108"/>
                    <a:pt x="2434561" y="984162"/>
                    <a:pt x="2418457" y="984162"/>
                  </a:cubicBezTo>
                  <a:lnTo>
                    <a:pt x="29157" y="984162"/>
                  </a:lnTo>
                  <a:cubicBezTo>
                    <a:pt x="21424" y="984162"/>
                    <a:pt x="14008" y="981090"/>
                    <a:pt x="8540" y="975622"/>
                  </a:cubicBezTo>
                  <a:cubicBezTo>
                    <a:pt x="3072" y="970154"/>
                    <a:pt x="0" y="962738"/>
                    <a:pt x="0" y="955005"/>
                  </a:cubicBezTo>
                  <a:lnTo>
                    <a:pt x="0" y="29157"/>
                  </a:lnTo>
                  <a:cubicBezTo>
                    <a:pt x="0" y="21424"/>
                    <a:pt x="3072" y="14008"/>
                    <a:pt x="8540" y="8540"/>
                  </a:cubicBezTo>
                  <a:cubicBezTo>
                    <a:pt x="14008" y="3072"/>
                    <a:pt x="21424" y="0"/>
                    <a:pt x="29157" y="0"/>
                  </a:cubicBezTo>
                  <a:close/>
                </a:path>
              </a:pathLst>
            </a:custGeom>
            <a:solidFill>
              <a:srgbClr val="00ACC1">
                <a:alpha val="80000"/>
              </a:srgbClr>
            </a:solidFill>
          </p:spPr>
        </p:sp>
        <p:sp>
          <p:nvSpPr>
            <p:cNvPr id="5" name="TextBox 5"/>
            <p:cNvSpPr txBox="1"/>
            <p:nvPr/>
          </p:nvSpPr>
          <p:spPr>
            <a:xfrm>
              <a:off x="0" y="-38100"/>
              <a:ext cx="2447615" cy="1022262"/>
            </a:xfrm>
            <a:prstGeom prst="rect">
              <a:avLst/>
            </a:prstGeom>
          </p:spPr>
          <p:txBody>
            <a:bodyPr lIns="50800" tIns="50800" rIns="50800" bIns="50800" rtlCol="0" anchor="ctr"/>
            <a:lstStyle/>
            <a:p>
              <a:pPr marL="0" lvl="0" indent="0" algn="ctr">
                <a:lnSpc>
                  <a:spcPts val="3360"/>
                </a:lnSpc>
              </a:pPr>
              <a:endParaRPr/>
            </a:p>
          </p:txBody>
        </p:sp>
      </p:grpSp>
      <p:grpSp>
        <p:nvGrpSpPr>
          <p:cNvPr id="6" name="Group 6"/>
          <p:cNvGrpSpPr/>
          <p:nvPr/>
        </p:nvGrpSpPr>
        <p:grpSpPr>
          <a:xfrm>
            <a:off x="1028700" y="3850005"/>
            <a:ext cx="7603480" cy="5408295"/>
            <a:chOff x="0" y="0"/>
            <a:chExt cx="1177978" cy="837886"/>
          </a:xfrm>
        </p:grpSpPr>
        <p:sp>
          <p:nvSpPr>
            <p:cNvPr id="7" name="Freeform 7"/>
            <p:cNvSpPr/>
            <p:nvPr/>
          </p:nvSpPr>
          <p:spPr>
            <a:xfrm>
              <a:off x="0" y="0"/>
              <a:ext cx="1177978" cy="837886"/>
            </a:xfrm>
            <a:custGeom>
              <a:avLst/>
              <a:gdLst/>
              <a:ahLst/>
              <a:cxnLst/>
              <a:rect l="l" t="t" r="r" b="b"/>
              <a:pathLst>
                <a:path w="1177978" h="837886">
                  <a:moveTo>
                    <a:pt x="35637" y="0"/>
                  </a:moveTo>
                  <a:lnTo>
                    <a:pt x="1142341" y="0"/>
                  </a:lnTo>
                  <a:cubicBezTo>
                    <a:pt x="1151792" y="0"/>
                    <a:pt x="1160857" y="3755"/>
                    <a:pt x="1167540" y="10438"/>
                  </a:cubicBezTo>
                  <a:cubicBezTo>
                    <a:pt x="1174223" y="17121"/>
                    <a:pt x="1177978" y="26186"/>
                    <a:pt x="1177978" y="35637"/>
                  </a:cubicBezTo>
                  <a:lnTo>
                    <a:pt x="1177978" y="802249"/>
                  </a:lnTo>
                  <a:cubicBezTo>
                    <a:pt x="1177978" y="811701"/>
                    <a:pt x="1174223" y="820765"/>
                    <a:pt x="1167540" y="827448"/>
                  </a:cubicBezTo>
                  <a:cubicBezTo>
                    <a:pt x="1160857" y="834132"/>
                    <a:pt x="1151792" y="837886"/>
                    <a:pt x="1142341" y="837886"/>
                  </a:cubicBezTo>
                  <a:lnTo>
                    <a:pt x="35637" y="837886"/>
                  </a:lnTo>
                  <a:cubicBezTo>
                    <a:pt x="26186" y="837886"/>
                    <a:pt x="17121" y="834132"/>
                    <a:pt x="10438" y="827448"/>
                  </a:cubicBezTo>
                  <a:cubicBezTo>
                    <a:pt x="3755" y="820765"/>
                    <a:pt x="0" y="811701"/>
                    <a:pt x="0" y="802249"/>
                  </a:cubicBezTo>
                  <a:lnTo>
                    <a:pt x="0" y="35637"/>
                  </a:lnTo>
                  <a:cubicBezTo>
                    <a:pt x="0" y="26186"/>
                    <a:pt x="3755" y="17121"/>
                    <a:pt x="10438" y="10438"/>
                  </a:cubicBezTo>
                  <a:cubicBezTo>
                    <a:pt x="17121" y="3755"/>
                    <a:pt x="26186" y="0"/>
                    <a:pt x="35637" y="0"/>
                  </a:cubicBezTo>
                  <a:close/>
                </a:path>
              </a:pathLst>
            </a:custGeom>
            <a:blipFill>
              <a:blip r:embed="rId3"/>
              <a:stretch>
                <a:fillRect l="-90" r="-90"/>
              </a:stretch>
            </a:blipFill>
          </p:spPr>
        </p:sp>
      </p:grpSp>
      <p:sp>
        <p:nvSpPr>
          <p:cNvPr id="9" name="TextBox 9"/>
          <p:cNvSpPr txBox="1"/>
          <p:nvPr/>
        </p:nvSpPr>
        <p:spPr>
          <a:xfrm>
            <a:off x="1028700" y="2307670"/>
            <a:ext cx="13874626" cy="709940"/>
          </a:xfrm>
          <a:prstGeom prst="rect">
            <a:avLst/>
          </a:prstGeom>
        </p:spPr>
        <p:txBody>
          <a:bodyPr lIns="0" tIns="0" rIns="0" bIns="0" rtlCol="0" anchor="t">
            <a:spAutoFit/>
          </a:bodyPr>
          <a:lstStyle/>
          <a:p>
            <a:pPr marL="0" lvl="0" indent="0" algn="l">
              <a:lnSpc>
                <a:spcPts val="4943"/>
              </a:lnSpc>
            </a:pPr>
            <a:r>
              <a:rPr lang="en-US" sz="4619">
                <a:solidFill>
                  <a:srgbClr val="4A1656"/>
                </a:solidFill>
                <a:latin typeface="Bugaki"/>
                <a:ea typeface="Bugaki"/>
                <a:cs typeface="Bugaki"/>
                <a:sym typeface="Bugaki"/>
              </a:rPr>
              <a:t>What Modern Science Can Learn From It</a:t>
            </a:r>
          </a:p>
        </p:txBody>
      </p:sp>
      <p:sp>
        <p:nvSpPr>
          <p:cNvPr id="10" name="TextBox 10"/>
          <p:cNvSpPr txBox="1"/>
          <p:nvPr/>
        </p:nvSpPr>
        <p:spPr>
          <a:xfrm>
            <a:off x="8932856" y="4644390"/>
            <a:ext cx="8025767" cy="2202545"/>
          </a:xfrm>
          <a:prstGeom prst="rect">
            <a:avLst/>
          </a:prstGeom>
        </p:spPr>
        <p:txBody>
          <a:bodyPr lIns="0" tIns="0" rIns="0" bIns="0" rtlCol="0" anchor="t">
            <a:spAutoFit/>
          </a:bodyPr>
          <a:lstStyle/>
          <a:p>
            <a:pPr marL="0" lvl="0" indent="0" algn="just">
              <a:lnSpc>
                <a:spcPts val="3567"/>
              </a:lnSpc>
            </a:pPr>
            <a:r>
              <a:rPr lang="en-US" sz="2050">
                <a:solidFill>
                  <a:srgbClr val="4A1656"/>
                </a:solidFill>
                <a:latin typeface="Open Sans"/>
                <a:ea typeface="Open Sans"/>
                <a:cs typeface="Open Sans"/>
                <a:sym typeface="Open Sans"/>
              </a:rPr>
              <a:t>• Materials characterization of ancient samples</a:t>
            </a:r>
          </a:p>
          <a:p>
            <a:pPr marL="0" lvl="0" indent="0" algn="just">
              <a:lnSpc>
                <a:spcPts val="3567"/>
              </a:lnSpc>
            </a:pPr>
            <a:r>
              <a:rPr lang="en-US" sz="2050">
                <a:solidFill>
                  <a:srgbClr val="4A1656"/>
                </a:solidFill>
                <a:latin typeface="Open Sans"/>
                <a:ea typeface="Open Sans"/>
                <a:cs typeface="Open Sans"/>
                <a:sym typeface="Open Sans"/>
              </a:rPr>
              <a:t>• Microstructure–property relationships</a:t>
            </a:r>
          </a:p>
          <a:p>
            <a:pPr marL="0" lvl="0" indent="0" algn="just">
              <a:lnSpc>
                <a:spcPts val="3567"/>
              </a:lnSpc>
            </a:pPr>
            <a:r>
              <a:rPr lang="en-US" sz="2050">
                <a:solidFill>
                  <a:srgbClr val="4A1656"/>
                </a:solidFill>
                <a:latin typeface="Open Sans"/>
                <a:ea typeface="Open Sans"/>
                <a:cs typeface="Open Sans"/>
                <a:sym typeface="Open Sans"/>
              </a:rPr>
              <a:t>• Sustainable traditional technologies</a:t>
            </a:r>
          </a:p>
          <a:p>
            <a:pPr marL="0" lvl="0" indent="0" algn="just">
              <a:lnSpc>
                <a:spcPts val="3567"/>
              </a:lnSpc>
            </a:pPr>
            <a:r>
              <a:rPr lang="en-US" sz="2050">
                <a:solidFill>
                  <a:srgbClr val="4A1656"/>
                </a:solidFill>
                <a:latin typeface="Open Sans"/>
                <a:ea typeface="Open Sans"/>
                <a:cs typeface="Open Sans"/>
                <a:sym typeface="Open Sans"/>
              </a:rPr>
              <a:t>• Heritage science and conservation</a:t>
            </a:r>
          </a:p>
          <a:p>
            <a:pPr marL="0" lvl="0" indent="0" algn="just">
              <a:lnSpc>
                <a:spcPts val="3567"/>
              </a:lnSpc>
            </a:pPr>
            <a:r>
              <a:rPr lang="en-US" sz="2050">
                <a:solidFill>
                  <a:srgbClr val="4A1656"/>
                </a:solidFill>
                <a:latin typeface="Open Sans"/>
                <a:ea typeface="Open Sans"/>
                <a:cs typeface="Open Sans"/>
                <a:sym typeface="Open Sans"/>
              </a:rPr>
              <a:t>• Inspiration for modern materials research</a:t>
            </a:r>
          </a:p>
        </p:txBody>
      </p:sp>
      <p:sp>
        <p:nvSpPr>
          <p:cNvPr id="11" name="Freeform 11"/>
          <p:cNvSpPr/>
          <p:nvPr/>
        </p:nvSpPr>
        <p:spPr>
          <a:xfrm>
            <a:off x="1064372" y="657860"/>
            <a:ext cx="783243" cy="1289561"/>
          </a:xfrm>
          <a:custGeom>
            <a:avLst/>
            <a:gdLst/>
            <a:ahLst/>
            <a:cxnLst/>
            <a:rect l="l" t="t" r="r" b="b"/>
            <a:pathLst>
              <a:path w="783243" h="1289561">
                <a:moveTo>
                  <a:pt x="0" y="0"/>
                </a:moveTo>
                <a:lnTo>
                  <a:pt x="783243" y="0"/>
                </a:lnTo>
                <a:lnTo>
                  <a:pt x="783243" y="1289561"/>
                </a:lnTo>
                <a:lnTo>
                  <a:pt x="0" y="1289561"/>
                </a:lnTo>
                <a:lnTo>
                  <a:pt x="0" y="0"/>
                </a:lnTo>
                <a:close/>
              </a:path>
            </a:pathLst>
          </a:custGeom>
          <a:blipFill>
            <a:blip r:embed="rId4"/>
            <a:stretch>
              <a:fillRect/>
            </a:stretch>
          </a:blipFill>
        </p:spPr>
      </p:sp>
      <p:sp>
        <p:nvSpPr>
          <p:cNvPr id="12" name="TextBox 12"/>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3" name="Camera 12">
            <a:extLst>
              <a:ext uri="{FF2B5EF4-FFF2-40B4-BE49-F238E27FC236}">
                <a16:creationId xmlns:a16="http://schemas.microsoft.com/office/drawing/2014/main" id="{1A1E17D9-4F98-1CDE-8CE2-E71EFED77BA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4706600" y="-10391"/>
            <a:ext cx="3733799" cy="233112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a:off x="13659355" y="1585199"/>
            <a:ext cx="9136090" cy="9021889"/>
          </a:xfrm>
          <a:custGeom>
            <a:avLst/>
            <a:gdLst/>
            <a:ahLst/>
            <a:cxnLst/>
            <a:rect l="l" t="t" r="r" b="b"/>
            <a:pathLst>
              <a:path w="9136090" h="9021889">
                <a:moveTo>
                  <a:pt x="0" y="0"/>
                </a:moveTo>
                <a:lnTo>
                  <a:pt x="9136090" y="0"/>
                </a:lnTo>
                <a:lnTo>
                  <a:pt x="9136090" y="9021889"/>
                </a:lnTo>
                <a:lnTo>
                  <a:pt x="0" y="9021889"/>
                </a:lnTo>
                <a:lnTo>
                  <a:pt x="0" y="0"/>
                </a:lnTo>
                <a:close/>
              </a:path>
            </a:pathLst>
          </a:custGeom>
          <a:blipFill>
            <a:blip r:embed="rId2">
              <a:alphaModFix amt="9999"/>
            </a:blip>
            <a:stretch>
              <a:fillRect/>
            </a:stretch>
          </a:blipFill>
        </p:spPr>
      </p:sp>
      <p:sp>
        <p:nvSpPr>
          <p:cNvPr id="3" name="Freeform 3"/>
          <p:cNvSpPr/>
          <p:nvPr/>
        </p:nvSpPr>
        <p:spPr>
          <a:xfrm>
            <a:off x="10637547" y="3802041"/>
            <a:ext cx="6893681" cy="4205146"/>
          </a:xfrm>
          <a:custGeom>
            <a:avLst/>
            <a:gdLst/>
            <a:ahLst/>
            <a:cxnLst/>
            <a:rect l="l" t="t" r="r" b="b"/>
            <a:pathLst>
              <a:path w="6893681" h="4205146">
                <a:moveTo>
                  <a:pt x="0" y="0"/>
                </a:moveTo>
                <a:lnTo>
                  <a:pt x="6893681" y="0"/>
                </a:lnTo>
                <a:lnTo>
                  <a:pt x="6893681" y="4205145"/>
                </a:lnTo>
                <a:lnTo>
                  <a:pt x="0" y="4205145"/>
                </a:lnTo>
                <a:lnTo>
                  <a:pt x="0" y="0"/>
                </a:lnTo>
                <a:close/>
              </a:path>
            </a:pathLst>
          </a:custGeom>
          <a:blipFill>
            <a:blip r:embed="rId3"/>
            <a:stretch>
              <a:fillRect/>
            </a:stretch>
          </a:blipFill>
        </p:spPr>
      </p:sp>
      <p:sp>
        <p:nvSpPr>
          <p:cNvPr id="5" name="TextBox 5"/>
          <p:cNvSpPr txBox="1"/>
          <p:nvPr/>
        </p:nvSpPr>
        <p:spPr>
          <a:xfrm>
            <a:off x="1028700" y="2269570"/>
            <a:ext cx="14388976" cy="1252601"/>
          </a:xfrm>
          <a:prstGeom prst="rect">
            <a:avLst/>
          </a:prstGeom>
        </p:spPr>
        <p:txBody>
          <a:bodyPr lIns="0" tIns="0" rIns="0" bIns="0" rtlCol="0" anchor="t">
            <a:spAutoFit/>
          </a:bodyPr>
          <a:lstStyle/>
          <a:p>
            <a:pPr marL="0" lvl="0" indent="0" algn="l">
              <a:lnSpc>
                <a:spcPts val="8432"/>
              </a:lnSpc>
            </a:pPr>
            <a:r>
              <a:rPr lang="en-US" sz="7881">
                <a:solidFill>
                  <a:srgbClr val="4A1656"/>
                </a:solidFill>
                <a:latin typeface="Bugaki"/>
                <a:ea typeface="Bugaki"/>
                <a:cs typeface="Bugaki"/>
                <a:sym typeface="Bugaki"/>
              </a:rPr>
              <a:t>Key Takeaways</a:t>
            </a:r>
          </a:p>
        </p:txBody>
      </p:sp>
      <p:sp>
        <p:nvSpPr>
          <p:cNvPr id="6" name="TextBox 6"/>
          <p:cNvSpPr txBox="1"/>
          <p:nvPr/>
        </p:nvSpPr>
        <p:spPr>
          <a:xfrm>
            <a:off x="1028700" y="4027088"/>
            <a:ext cx="8832205" cy="1753748"/>
          </a:xfrm>
          <a:prstGeom prst="rect">
            <a:avLst/>
          </a:prstGeom>
        </p:spPr>
        <p:txBody>
          <a:bodyPr lIns="0" tIns="0" rIns="0" bIns="0" rtlCol="0" anchor="t">
            <a:spAutoFit/>
          </a:bodyPr>
          <a:lstStyle/>
          <a:p>
            <a:pPr marL="0" lvl="0" indent="0" algn="just">
              <a:lnSpc>
                <a:spcPts val="3455"/>
              </a:lnSpc>
            </a:pPr>
            <a:r>
              <a:rPr lang="en-US" sz="2699" b="1">
                <a:solidFill>
                  <a:srgbClr val="4A1656"/>
                </a:solidFill>
                <a:latin typeface="Open Sans Bold"/>
                <a:ea typeface="Open Sans Bold"/>
                <a:cs typeface="Open Sans Bold"/>
                <a:sym typeface="Open Sans Bold"/>
              </a:rPr>
              <a:t>Wootz steel was a real, advanced metallurgical technology.</a:t>
            </a:r>
          </a:p>
          <a:p>
            <a:pPr marL="0" lvl="0" indent="0" algn="just">
              <a:lnSpc>
                <a:spcPts val="3455"/>
              </a:lnSpc>
            </a:pPr>
            <a:r>
              <a:rPr lang="en-US" sz="2699" b="1">
                <a:solidFill>
                  <a:srgbClr val="4A1656"/>
                </a:solidFill>
                <a:latin typeface="Open Sans Bold"/>
                <a:ea typeface="Open Sans Bold"/>
                <a:cs typeface="Open Sans Bold"/>
                <a:sym typeface="Open Sans Bold"/>
              </a:rPr>
              <a:t>Carbon content and controlled processing were the crucial factors behind its exceptional properties.</a:t>
            </a:r>
          </a:p>
        </p:txBody>
      </p:sp>
      <p:sp>
        <p:nvSpPr>
          <p:cNvPr id="7" name="TextBox 7"/>
          <p:cNvSpPr txBox="1"/>
          <p:nvPr/>
        </p:nvSpPr>
        <p:spPr>
          <a:xfrm>
            <a:off x="1028700" y="6473108"/>
            <a:ext cx="8832205" cy="2191898"/>
          </a:xfrm>
          <a:prstGeom prst="rect">
            <a:avLst/>
          </a:prstGeom>
        </p:spPr>
        <p:txBody>
          <a:bodyPr lIns="0" tIns="0" rIns="0" bIns="0" rtlCol="0" anchor="t">
            <a:spAutoFit/>
          </a:bodyPr>
          <a:lstStyle/>
          <a:p>
            <a:pPr marL="0" lvl="0" indent="0" algn="just">
              <a:lnSpc>
                <a:spcPts val="3455"/>
              </a:lnSpc>
            </a:pPr>
            <a:r>
              <a:rPr lang="en-US" sz="2699" b="1">
                <a:solidFill>
                  <a:srgbClr val="4A1656"/>
                </a:solidFill>
                <a:latin typeface="Open Sans Bold"/>
                <a:ea typeface="Open Sans Bold"/>
                <a:cs typeface="Open Sans Bold"/>
                <a:sym typeface="Open Sans Bold"/>
              </a:rPr>
              <a:t>Microstructure explains the material's hardness, toughness, and distinctive surface patterns.</a:t>
            </a:r>
          </a:p>
          <a:p>
            <a:pPr marL="0" lvl="0" indent="0" algn="just">
              <a:lnSpc>
                <a:spcPts val="3455"/>
              </a:lnSpc>
            </a:pPr>
            <a:r>
              <a:rPr lang="en-US" sz="2699" b="1">
                <a:solidFill>
                  <a:srgbClr val="4A1656"/>
                </a:solidFill>
                <a:latin typeface="Open Sans Bold"/>
                <a:ea typeface="Open Sans Bold"/>
                <a:cs typeface="Open Sans Bold"/>
                <a:sym typeface="Open Sans Bold"/>
              </a:rPr>
              <a:t>History and science complement each other; traditional knowledge deserves evidence-based study.</a:t>
            </a:r>
          </a:p>
        </p:txBody>
      </p:sp>
      <p:sp>
        <p:nvSpPr>
          <p:cNvPr id="8" name="Freeform 8"/>
          <p:cNvSpPr/>
          <p:nvPr/>
        </p:nvSpPr>
        <p:spPr>
          <a:xfrm>
            <a:off x="1027023" y="774464"/>
            <a:ext cx="859353" cy="1082369"/>
          </a:xfrm>
          <a:custGeom>
            <a:avLst/>
            <a:gdLst/>
            <a:ahLst/>
            <a:cxnLst/>
            <a:rect l="l" t="t" r="r" b="b"/>
            <a:pathLst>
              <a:path w="859353" h="1082369">
                <a:moveTo>
                  <a:pt x="0" y="0"/>
                </a:moveTo>
                <a:lnTo>
                  <a:pt x="859353" y="0"/>
                </a:lnTo>
                <a:lnTo>
                  <a:pt x="859353" y="1082368"/>
                </a:lnTo>
                <a:lnTo>
                  <a:pt x="0" y="1082368"/>
                </a:lnTo>
                <a:lnTo>
                  <a:pt x="0" y="0"/>
                </a:lnTo>
                <a:close/>
              </a:path>
            </a:pathLst>
          </a:custGeom>
          <a:blipFill>
            <a:blip r:embed="rId4"/>
            <a:stretch>
              <a:fillRect/>
            </a:stretch>
          </a:blipFill>
        </p:spPr>
      </p:sp>
      <p:sp>
        <p:nvSpPr>
          <p:cNvPr id="9" name="TextBox 9"/>
          <p:cNvSpPr txBox="1"/>
          <p:nvPr/>
        </p:nvSpPr>
        <p:spPr>
          <a:xfrm>
            <a:off x="15708334" y="9811040"/>
            <a:ext cx="1785806" cy="218618"/>
          </a:xfrm>
          <a:prstGeom prst="rect">
            <a:avLst/>
          </a:prstGeom>
        </p:spPr>
        <p:txBody>
          <a:bodyPr lIns="0" tIns="0" rIns="0" bIns="0" rtlCol="0" anchor="t">
            <a:spAutoFit/>
          </a:bodyPr>
          <a:lstStyle/>
          <a:p>
            <a:pPr algn="ctr">
              <a:lnSpc>
                <a:spcPts val="1475"/>
              </a:lnSpc>
              <a:spcBef>
                <a:spcPct val="0"/>
              </a:spcBef>
            </a:pPr>
            <a:r>
              <a:rPr lang="en-US" sz="1378">
                <a:solidFill>
                  <a:srgbClr val="4A1656"/>
                </a:solidFill>
                <a:latin typeface="Bugaki"/>
                <a:ea typeface="Bugaki"/>
                <a:cs typeface="Bugaki"/>
                <a:sym typeface="Bugaki"/>
              </a:rPr>
              <a:t>By : Aryan Sune</a:t>
            </a:r>
          </a:p>
        </p:txBody>
      </p:sp>
      <p:pic>
        <p:nvPicPr>
          <p:cNvPr id="10" name="Camera 9">
            <a:extLst>
              <a:ext uri="{FF2B5EF4-FFF2-40B4-BE49-F238E27FC236}">
                <a16:creationId xmlns:a16="http://schemas.microsoft.com/office/drawing/2014/main" id="{1C412FF6-DBB9-5AFA-4473-E9FE86DAC94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15417676" y="-8249"/>
            <a:ext cx="3121623" cy="204453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2F2"/>
        </a:solidFill>
        <a:effectLst/>
      </p:bgPr>
    </p:bg>
    <p:spTree>
      <p:nvGrpSpPr>
        <p:cNvPr id="1" name=""/>
        <p:cNvGrpSpPr/>
        <p:nvPr/>
      </p:nvGrpSpPr>
      <p:grpSpPr>
        <a:xfrm>
          <a:off x="0" y="0"/>
          <a:ext cx="0" cy="0"/>
          <a:chOff x="0" y="0"/>
          <a:chExt cx="0" cy="0"/>
        </a:xfrm>
      </p:grpSpPr>
      <p:sp>
        <p:nvSpPr>
          <p:cNvPr id="2" name="Freeform 2"/>
          <p:cNvSpPr/>
          <p:nvPr/>
        </p:nvSpPr>
        <p:spPr>
          <a:xfrm rot="5400000">
            <a:off x="7941553" y="-3088837"/>
            <a:ext cx="2395473" cy="12284476"/>
          </a:xfrm>
          <a:custGeom>
            <a:avLst/>
            <a:gdLst/>
            <a:ahLst/>
            <a:cxnLst/>
            <a:rect l="l" t="t" r="r" b="b"/>
            <a:pathLst>
              <a:path w="2395473" h="12284476">
                <a:moveTo>
                  <a:pt x="0" y="0"/>
                </a:moveTo>
                <a:lnTo>
                  <a:pt x="2395473" y="0"/>
                </a:lnTo>
                <a:lnTo>
                  <a:pt x="2395473" y="12284476"/>
                </a:lnTo>
                <a:lnTo>
                  <a:pt x="0" y="12284476"/>
                </a:lnTo>
                <a:lnTo>
                  <a:pt x="0" y="0"/>
                </a:lnTo>
                <a:close/>
              </a:path>
            </a:pathLst>
          </a:custGeom>
          <a:blipFill>
            <a:blip r:embed="rId2"/>
            <a:stretch>
              <a:fillRect/>
            </a:stretch>
          </a:blipFill>
        </p:spPr>
      </p:sp>
      <p:sp>
        <p:nvSpPr>
          <p:cNvPr id="3" name="TextBox 3"/>
          <p:cNvSpPr txBox="1"/>
          <p:nvPr/>
        </p:nvSpPr>
        <p:spPr>
          <a:xfrm>
            <a:off x="4830440" y="981075"/>
            <a:ext cx="8627120" cy="495354"/>
          </a:xfrm>
          <a:prstGeom prst="rect">
            <a:avLst/>
          </a:prstGeom>
        </p:spPr>
        <p:txBody>
          <a:bodyPr lIns="0" tIns="0" rIns="0" bIns="0" rtlCol="0" anchor="t">
            <a:spAutoFit/>
          </a:bodyPr>
          <a:lstStyle/>
          <a:p>
            <a:pPr marL="0" lvl="0" indent="0" algn="ctr">
              <a:lnSpc>
                <a:spcPts val="4197"/>
              </a:lnSpc>
              <a:spcBef>
                <a:spcPct val="0"/>
              </a:spcBef>
            </a:pPr>
            <a:r>
              <a:rPr lang="en-US" sz="2997" i="1">
                <a:solidFill>
                  <a:srgbClr val="4A1656"/>
                </a:solidFill>
                <a:latin typeface="Open Sans Italics"/>
                <a:ea typeface="Open Sans Italics"/>
                <a:cs typeface="Open Sans Italics"/>
                <a:sym typeface="Open Sans Italics"/>
              </a:rPr>
              <a:t>Wootz Steel: Ancient Indian Metallurgy</a:t>
            </a:r>
          </a:p>
        </p:txBody>
      </p:sp>
      <p:sp>
        <p:nvSpPr>
          <p:cNvPr id="4" name="TextBox 4"/>
          <p:cNvSpPr txBox="1"/>
          <p:nvPr/>
        </p:nvSpPr>
        <p:spPr>
          <a:xfrm>
            <a:off x="5189230" y="8500994"/>
            <a:ext cx="7630825" cy="1653582"/>
          </a:xfrm>
          <a:prstGeom prst="rect">
            <a:avLst/>
          </a:prstGeom>
        </p:spPr>
        <p:txBody>
          <a:bodyPr lIns="0" tIns="0" rIns="0" bIns="0" rtlCol="0" anchor="t">
            <a:spAutoFit/>
          </a:bodyPr>
          <a:lstStyle/>
          <a:p>
            <a:pPr algn="ctr">
              <a:lnSpc>
                <a:spcPts val="3357"/>
              </a:lnSpc>
            </a:pPr>
            <a:r>
              <a:rPr lang="en-US" sz="2398" b="1">
                <a:solidFill>
                  <a:srgbClr val="4A1656"/>
                </a:solidFill>
                <a:latin typeface="Open Sans Bold"/>
                <a:ea typeface="Open Sans Bold"/>
                <a:cs typeface="Open Sans Bold"/>
                <a:sym typeface="Open Sans Bold"/>
              </a:rPr>
              <a:t>Name : Aryan Vijayrao Sune </a:t>
            </a:r>
          </a:p>
          <a:p>
            <a:pPr algn="ctr">
              <a:lnSpc>
                <a:spcPts val="3357"/>
              </a:lnSpc>
            </a:pPr>
            <a:r>
              <a:rPr lang="en-US" sz="2398" b="1">
                <a:solidFill>
                  <a:srgbClr val="4A1656"/>
                </a:solidFill>
                <a:latin typeface="Open Sans Bold"/>
                <a:ea typeface="Open Sans Bold"/>
                <a:cs typeface="Open Sans Bold"/>
                <a:sym typeface="Open Sans Bold"/>
              </a:rPr>
              <a:t>PRN : 255109005</a:t>
            </a:r>
          </a:p>
          <a:p>
            <a:pPr algn="ctr">
              <a:lnSpc>
                <a:spcPts val="3357"/>
              </a:lnSpc>
            </a:pPr>
            <a:r>
              <a:rPr lang="en-US" sz="2398" b="1">
                <a:solidFill>
                  <a:srgbClr val="4A1656"/>
                </a:solidFill>
                <a:latin typeface="Open Sans Bold"/>
                <a:ea typeface="Open Sans Bold"/>
                <a:cs typeface="Open Sans Bold"/>
                <a:sym typeface="Open Sans Bold"/>
              </a:rPr>
              <a:t>Branch : SY CSE(Un) Btech </a:t>
            </a:r>
          </a:p>
          <a:p>
            <a:pPr marL="0" lvl="0" indent="0" algn="ctr">
              <a:lnSpc>
                <a:spcPts val="3357"/>
              </a:lnSpc>
              <a:spcBef>
                <a:spcPct val="0"/>
              </a:spcBef>
            </a:pPr>
            <a:r>
              <a:rPr lang="en-US" sz="2398" b="1">
                <a:solidFill>
                  <a:srgbClr val="4A1656"/>
                </a:solidFill>
                <a:latin typeface="Open Sans Bold"/>
                <a:ea typeface="Open Sans Bold"/>
                <a:cs typeface="Open Sans Bold"/>
                <a:sym typeface="Open Sans Bold"/>
              </a:rPr>
              <a:t>College : Walchand College of Engineering Sangli </a:t>
            </a:r>
          </a:p>
        </p:txBody>
      </p:sp>
      <p:sp>
        <p:nvSpPr>
          <p:cNvPr id="5" name="TextBox 5"/>
          <p:cNvSpPr txBox="1"/>
          <p:nvPr/>
        </p:nvSpPr>
        <p:spPr>
          <a:xfrm>
            <a:off x="3393353" y="4555937"/>
            <a:ext cx="11501295" cy="1725539"/>
          </a:xfrm>
          <a:prstGeom prst="rect">
            <a:avLst/>
          </a:prstGeom>
        </p:spPr>
        <p:txBody>
          <a:bodyPr lIns="0" tIns="0" rIns="0" bIns="0" rtlCol="0" anchor="t">
            <a:spAutoFit/>
          </a:bodyPr>
          <a:lstStyle/>
          <a:p>
            <a:pPr marL="0" lvl="0" indent="0" algn="ctr">
              <a:lnSpc>
                <a:spcPts val="11620"/>
              </a:lnSpc>
            </a:pPr>
            <a:r>
              <a:rPr lang="en-US" sz="10860">
                <a:solidFill>
                  <a:srgbClr val="896E97"/>
                </a:solidFill>
                <a:latin typeface="Bugaki"/>
                <a:ea typeface="Bugaki"/>
                <a:cs typeface="Bugaki"/>
                <a:sym typeface="Bugaki"/>
              </a:rPr>
              <a:t>Thank You</a:t>
            </a:r>
          </a:p>
        </p:txBody>
      </p:sp>
      <p:sp>
        <p:nvSpPr>
          <p:cNvPr id="6" name="TextBox 6"/>
          <p:cNvSpPr txBox="1"/>
          <p:nvPr/>
        </p:nvSpPr>
        <p:spPr>
          <a:xfrm>
            <a:off x="4478139" y="6548176"/>
            <a:ext cx="9053007" cy="1040783"/>
          </a:xfrm>
          <a:prstGeom prst="rect">
            <a:avLst/>
          </a:prstGeom>
        </p:spPr>
        <p:txBody>
          <a:bodyPr lIns="0" tIns="0" rIns="0" bIns="0" rtlCol="0" anchor="t">
            <a:spAutoFit/>
          </a:bodyPr>
          <a:lstStyle/>
          <a:p>
            <a:pPr marL="0" lvl="0" indent="0" algn="ctr">
              <a:lnSpc>
                <a:spcPts val="8578"/>
              </a:lnSpc>
              <a:spcBef>
                <a:spcPct val="0"/>
              </a:spcBef>
            </a:pPr>
            <a:r>
              <a:rPr lang="en-US" sz="6127" b="1">
                <a:solidFill>
                  <a:srgbClr val="896E97"/>
                </a:solidFill>
                <a:latin typeface="Open Sans Bold"/>
                <a:ea typeface="Open Sans Bold"/>
                <a:cs typeface="Open Sans Bold"/>
                <a:sym typeface="Open Sans Bold"/>
              </a:rPr>
              <a:t>Questions &amp; Discussion</a:t>
            </a:r>
          </a:p>
        </p:txBody>
      </p:sp>
      <p:sp>
        <p:nvSpPr>
          <p:cNvPr id="7" name="Freeform 7"/>
          <p:cNvSpPr/>
          <p:nvPr/>
        </p:nvSpPr>
        <p:spPr>
          <a:xfrm>
            <a:off x="-1948347" y="6430985"/>
            <a:ext cx="4085392" cy="3957724"/>
          </a:xfrm>
          <a:custGeom>
            <a:avLst/>
            <a:gdLst/>
            <a:ahLst/>
            <a:cxnLst/>
            <a:rect l="l" t="t" r="r" b="b"/>
            <a:pathLst>
              <a:path w="4085392" h="3957724">
                <a:moveTo>
                  <a:pt x="0" y="0"/>
                </a:moveTo>
                <a:lnTo>
                  <a:pt x="4085393" y="0"/>
                </a:lnTo>
                <a:lnTo>
                  <a:pt x="4085393" y="3957723"/>
                </a:lnTo>
                <a:lnTo>
                  <a:pt x="0" y="3957723"/>
                </a:lnTo>
                <a:lnTo>
                  <a:pt x="0" y="0"/>
                </a:lnTo>
                <a:close/>
              </a:path>
            </a:pathLst>
          </a:custGeom>
          <a:blipFill>
            <a:blip r:embed="rId3">
              <a:alphaModFix amt="9999"/>
            </a:blip>
            <a:stretch>
              <a:fillRect/>
            </a:stretch>
          </a:blipFill>
        </p:spPr>
      </p:sp>
      <p:sp>
        <p:nvSpPr>
          <p:cNvPr id="8" name="Freeform 8"/>
          <p:cNvSpPr/>
          <p:nvPr/>
        </p:nvSpPr>
        <p:spPr>
          <a:xfrm>
            <a:off x="15872239" y="6020904"/>
            <a:ext cx="4284585" cy="4133673"/>
          </a:xfrm>
          <a:custGeom>
            <a:avLst/>
            <a:gdLst/>
            <a:ahLst/>
            <a:cxnLst/>
            <a:rect l="l" t="t" r="r" b="b"/>
            <a:pathLst>
              <a:path w="4284585" h="4133673">
                <a:moveTo>
                  <a:pt x="0" y="0"/>
                </a:moveTo>
                <a:lnTo>
                  <a:pt x="4284585" y="0"/>
                </a:lnTo>
                <a:lnTo>
                  <a:pt x="4284585" y="4133673"/>
                </a:lnTo>
                <a:lnTo>
                  <a:pt x="0" y="4133673"/>
                </a:lnTo>
                <a:lnTo>
                  <a:pt x="0" y="0"/>
                </a:lnTo>
                <a:close/>
              </a:path>
            </a:pathLst>
          </a:custGeom>
          <a:blipFill>
            <a:blip r:embed="rId4">
              <a:alphaModFix amt="9999"/>
            </a:blip>
            <a:stretch>
              <a:fillRect/>
            </a:stretch>
          </a:blipFill>
        </p:spPr>
      </p:sp>
      <p:pic>
        <p:nvPicPr>
          <p:cNvPr id="9" name="Camera 8">
            <a:extLst>
              <a:ext uri="{FF2B5EF4-FFF2-40B4-BE49-F238E27FC236}">
                <a16:creationId xmlns:a16="http://schemas.microsoft.com/office/drawing/2014/main" id="{C1C96620-AA48-C6F2-F481-474F2015654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flipH="1">
            <a:off x="304800" y="7324345"/>
            <a:ext cx="4805555" cy="296265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557</Words>
  <Application>Microsoft Office PowerPoint</Application>
  <PresentationFormat>Custom</PresentationFormat>
  <Paragraphs>68</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Bugaki</vt:lpstr>
      <vt:lpstr>Calibri</vt:lpstr>
      <vt:lpstr>Open Sans</vt:lpstr>
      <vt:lpstr>Open Sans Bold</vt:lpstr>
      <vt:lpstr>Arial</vt:lpstr>
      <vt:lpstr>Poppins Bold</vt:lpstr>
      <vt:lpstr>Open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Wootz Steel: History Meets Science</dc:title>
  <cp:lastModifiedBy>Aryan Sune</cp:lastModifiedBy>
  <cp:revision>2</cp:revision>
  <dcterms:created xsi:type="dcterms:W3CDTF">2006-08-16T00:00:00Z</dcterms:created>
  <dcterms:modified xsi:type="dcterms:W3CDTF">2026-09-22T09:01:29Z</dcterms:modified>
  <dc:identifier>DAHVDhsA_RY</dc:identifier>
</cp:coreProperties>
</file>